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534"/>
                </a:solidFill>
                <a:latin typeface="Microsoft YaHei"/>
              </a:defRPr>
            </a:pPr>
            <a:r>
              <a:rPr sz="1200" b="0" i="0" u="none" strike="noStrike">
                <a:solidFill>
                  <a:srgbClr val="1B2534"/>
                </a:solidFill>
                <a:latin typeface="Microsoft YaHei"/>
              </a:rPr>
              <a:t>中性情景：三年收入与净利润（万元）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总收入</c:v>
                </c:pt>
              </c:strCache>
            </c:strRef>
          </c:tx>
          <c:spPr>
            <a:solidFill>
              <a:srgbClr val="0F3C8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A556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52.2</c:v>
                </c:pt>
                <c:pt idx="1">
                  <c:v>186.5</c:v>
                </c:pt>
                <c:pt idx="2">
                  <c:v>322.2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净利润</c:v>
                </c:pt>
              </c:strCache>
            </c:strRef>
          </c:tx>
          <c:spPr>
            <a:solidFill>
              <a:srgbClr val="7FA8E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A556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17.3</c:v>
                </c:pt>
                <c:pt idx="1">
                  <c:v>117.7</c:v>
                </c:pt>
                <c:pt idx="2">
                  <c:v>196.9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4A556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78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"/>
        </c:scaling>
        <c:delete val="0"/>
        <c:axPos val="l"/>
        <c:majorGridlines>
          <c:spPr>
            <a:ln w="12700" cap="flat">
              <a:solidFill>
                <a:srgbClr val="EAEF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78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开场：12345 不缺工单系统，缺的是敢被采纳的判断。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138160" y="-1463040"/>
            <a:ext cx="5852160" cy="5852160"/>
          </a:xfrm>
          <a:prstGeom prst="roundRect">
            <a:avLst>
              <a:gd name="adj" fmla="val 7813"/>
            </a:avLst>
          </a:prstGeom>
          <a:solidFill>
            <a:srgbClr val="0F3C86"/>
          </a:solidFill>
          <a:ln w="12700">
            <a:solidFill>
              <a:srgbClr val="0F3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840000">
            <a:off x="9326880" y="3291840"/>
            <a:ext cx="4754880" cy="4754880"/>
          </a:xfrm>
          <a:prstGeom prst="roundRect">
            <a:avLst>
              <a:gd name="adj" fmla="val 9615"/>
            </a:avLst>
          </a:prstGeom>
          <a:solidFill>
            <a:srgbClr val="1747A0"/>
          </a:solidFill>
          <a:ln w="12700">
            <a:solidFill>
              <a:srgbClr val="1747A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2344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600" kern="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 业 计 划 书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8412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12345热线工单智能生成与</a:t>
            </a:r>
            <a:endParaRPr lang="en-US" sz="39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精准转派全流程辅助 Agent</a:t>
            </a:r>
            <a:endParaRPr lang="en-US" sz="3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015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录音理解　·　工单生成　·　精准转派　·　合规回复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041648"/>
            <a:ext cx="7360920" cy="658368"/>
          </a:xfrm>
          <a:prstGeom prst="roundRect">
            <a:avLst>
              <a:gd name="adj" fmla="val 11111"/>
            </a:avLst>
          </a:prstGeom>
          <a:solidFill>
            <a:srgbClr val="1747A0"/>
          </a:solidFill>
          <a:ln w="12700">
            <a:solidFill>
              <a:srgbClr val="3A6F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4041648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敢说“我不确定”，工作人员才敢让它派单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1389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禾安团队　·　成都中医药大学　孔伟康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4681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8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8 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3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87552" y="329184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项目速览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778240" y="3840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一页看懂我们做什么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6858000" cy="1133856"/>
          </a:xfrm>
          <a:prstGeom prst="roundRect">
            <a:avLst>
              <a:gd name="adj" fmla="val 4839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362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做什么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1673352"/>
            <a:ext cx="6437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12345 热线工作人员的全流程辅助智能体：来电录音或文本进来，自动产出标准工单、事项类别、主办与协办单位建议、合规答复与回访话术。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478024"/>
            <a:ext cx="6858000" cy="1133856"/>
          </a:xfrm>
          <a:prstGeom prst="roundRect">
            <a:avLst>
              <a:gd name="adj" fmla="val 4839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给谁用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916936"/>
            <a:ext cx="6437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热线受理员、工单审核员、转派员、部门协调员、回复审核员、质量监督岗——同一套工作台，六类角色各取所需。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721608"/>
            <a:ext cx="6858000" cy="1133856"/>
          </a:xfrm>
          <a:prstGeom prst="roundRect">
            <a:avLst>
              <a:gd name="adj" fmla="val 4839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38496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怎么不一样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4160520"/>
            <a:ext cx="6437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不追求“模型更大”，而是把可靠性做成工程：多源规则冲突判定 + 条款级证据溯源，遇到职责交叉或信息不足时明确拒答并转人工。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4965192"/>
            <a:ext cx="6858000" cy="1133856"/>
          </a:xfrm>
          <a:prstGeom prst="roundRect">
            <a:avLst>
              <a:gd name="adj" fmla="val 4839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5093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商业形态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5404104"/>
            <a:ext cx="6437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轻量标准 Agent 组件，容器化交付，可嵌入政务云与智慧城市网格底座；以软件授权 + 年度服务费为主，一人公司轻资产运营。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35240" y="1234440"/>
            <a:ext cx="4041648" cy="1133856"/>
          </a:xfrm>
          <a:prstGeom prst="roundRect">
            <a:avLst>
              <a:gd name="adj" fmla="val 4839"/>
            </a:avLst>
          </a:prstGeom>
          <a:solidFill>
            <a:srgbClr val="EAF1FD"/>
          </a:solidFill>
          <a:ln w="12700">
            <a:solidFill>
              <a:srgbClr val="BFD3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45552" y="13441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93.7%</a:t>
            </a:r>
            <a:endParaRPr lang="en-US" sz="29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0" y="13990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单件工单工时压降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845552" y="19110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真实工单实测：11分20秒 → 43秒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635240" y="2478024"/>
            <a:ext cx="4041648" cy="1133856"/>
          </a:xfrm>
          <a:prstGeom prst="roundRect">
            <a:avLst>
              <a:gd name="adj" fmla="val 4839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45552" y="258775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2900" dirty="0"/>
          </a:p>
        </p:txBody>
      </p:sp>
      <p:sp>
        <p:nvSpPr>
          <p:cNvPr id="23" name="Text 21"/>
          <p:cNvSpPr txBox="1"/>
          <p:nvPr/>
        </p:nvSpPr>
        <p:spPr>
          <a:xfrm>
            <a:off x="9418320" y="26426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推荐理由可溯源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845552" y="3154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每条建议下钻到法规条款与权责清单片段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635240" y="3721608"/>
            <a:ext cx="4041648" cy="1133856"/>
          </a:xfrm>
          <a:prstGeom prst="roundRect">
            <a:avLst>
              <a:gd name="adj" fmla="val 4839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45552" y="383133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态</a:t>
            </a:r>
            <a:endParaRPr lang="en-US" sz="29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0" y="3886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裁决状态机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845552" y="43982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可派单 / 权责交叉 / 信息不足 / 非本渠道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635240" y="4965192"/>
            <a:ext cx="4041648" cy="1133856"/>
          </a:xfrm>
          <a:prstGeom prst="roundRect">
            <a:avLst>
              <a:gd name="adj" fmla="val 4839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845552" y="5074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9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0" y="512978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自动对外发送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7845552" y="56418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答复与派单一律由工作人员定音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638251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注：工时对比取自公开示例工单的端到端走查，人工基线为同类多部门联办工单的平均处理时长。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3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87552" y="329184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我们理解的 12345 业务现场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778240" y="3840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 · 角色 · 介入点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1887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群众来电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336292" y="1188720"/>
            <a:ext cx="128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2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18872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0F3C86"/>
          </a:solidFill>
          <a:ln w="12700">
            <a:solidFill>
              <a:srgbClr val="0F3C8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68880" y="11887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接线员录入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302252" y="1188720"/>
            <a:ext cx="128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2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34840" y="118872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0F3C86"/>
          </a:solidFill>
          <a:ln w="12700">
            <a:solidFill>
              <a:srgbClr val="0F3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34840" y="11887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生成工单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268212" y="1188720"/>
            <a:ext cx="128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2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0" y="118872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0F3C86"/>
          </a:solidFill>
          <a:ln w="12700">
            <a:solidFill>
              <a:srgbClr val="0F3C8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11887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转派职能部门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34172" y="1188720"/>
            <a:ext cx="128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2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366760" y="118872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0F3C86"/>
          </a:solidFill>
          <a:ln w="12700">
            <a:solidFill>
              <a:srgbClr val="0F3C8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66760" y="11887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部门处理并回复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200132" y="1188720"/>
            <a:ext cx="128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2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332720" y="118872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0F3C86"/>
          </a:solidFill>
          <a:ln w="12700">
            <a:solidFill>
              <a:srgbClr val="0F3C8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332720" y="11887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热线回访群众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1920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7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深色环节 = 智能体提供辅助建议的位置；所有环节的最终结果均由工作人员确认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23957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六类使用者，六种“想要的东西”不一样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02920" y="2788920"/>
            <a:ext cx="3602736" cy="841248"/>
          </a:xfrm>
          <a:prstGeom prst="roundRect">
            <a:avLst>
              <a:gd name="adj" fmla="val 6522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28803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受理员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3154680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边听边成单，别让群众重复说第二遍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88536" y="2788920"/>
            <a:ext cx="3602736" cy="841248"/>
          </a:xfrm>
          <a:prstGeom prst="roundRect">
            <a:avLst>
              <a:gd name="adj" fmla="val 6522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471416" y="28803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工单审核员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471416" y="3154680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要素是否忠实原话，有没有被“润色”掉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74152" y="2788920"/>
            <a:ext cx="3602736" cy="841248"/>
          </a:xfrm>
          <a:prstGeom prst="roundRect">
            <a:avLst>
              <a:gd name="adj" fmla="val 6522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57032" y="28803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转派员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257032" y="3154680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这单到底归谁，多派一家还是少派一家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" y="3749040"/>
            <a:ext cx="3602736" cy="841248"/>
          </a:xfrm>
          <a:prstGeom prst="roundRect">
            <a:avLst>
              <a:gd name="adj" fmla="val 6522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3840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部门协调员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4114800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职责交叉时的依据是什么，能不能拿出来讲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288536" y="3749040"/>
            <a:ext cx="3602736" cy="841248"/>
          </a:xfrm>
          <a:prstGeom prst="roundRect">
            <a:avLst>
              <a:gd name="adj" fmla="val 6522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471416" y="3840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回复审核员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4471416" y="4114800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有没有越权承诺、有没有泄露个人信息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074152" y="3749040"/>
            <a:ext cx="3602736" cy="841248"/>
          </a:xfrm>
          <a:prstGeom prst="roundRect">
            <a:avLst>
              <a:gd name="adj" fmla="val 6522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57032" y="3840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质量监督岗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8257032" y="4114800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退单率、超期率、重复来电从哪来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02920" y="4864608"/>
            <a:ext cx="11173968" cy="1207008"/>
          </a:xfrm>
          <a:prstGeom prst="roundRect">
            <a:avLst>
              <a:gd name="adj" fmla="val 4545"/>
            </a:avLst>
          </a:prstGeom>
          <a:solidFill>
            <a:srgbClr val="FDF1E3"/>
          </a:solidFill>
          <a:ln w="12700">
            <a:solidFill>
              <a:srgbClr val="F0D3A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31520" y="499262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一个常被忽略的事实：转派不是“选一个部门”，而是“属地 × 职能”的二维匹配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31520" y="5303520"/>
            <a:ext cx="10698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A54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在公开示例工单中，办理单位普遍呈现“属地政府 + 职能部门”的组合形态（如“经济技术开发区、市交通运输局”“南陵县政府、市公安局”），且区域字段独立于办理单位存在。只按职能分类而忽略属地，或只按属地派单而忽略职能，都会产生退单。这也是我们把主办、协办与属地拆成三个独立字段来建模的原因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3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87552" y="329184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四个真实存在的痛点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778240" y="3840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均可在公开示例工单中找到对应证据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5504688" cy="2212848"/>
          </a:xfrm>
          <a:prstGeom prst="roundRect">
            <a:avLst>
              <a:gd name="adj" fmla="val 2479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353312"/>
            <a:ext cx="384048" cy="310896"/>
          </a:xfrm>
          <a:prstGeom prst="roundRect">
            <a:avLst>
              <a:gd name="adj" fmla="val 14706"/>
            </a:avLst>
          </a:prstGeom>
          <a:solidFill>
            <a:srgbClr val="DD7B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97864" y="1335024"/>
            <a:ext cx="4626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工单整理慢，且高度依赖坐席个人水平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1755648"/>
            <a:ext cx="5102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群众口述往往是多诉求混杂、时间地点不完整、夹带情绪。坐席要一边安抚一边速记一边归类，一条多诉求工单人工整理常需 10 分钟以上，且不同坐席写出的摘要口径差异明显。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04088" y="2615184"/>
            <a:ext cx="5102352" cy="640080"/>
          </a:xfrm>
          <a:prstGeom prst="roundRect">
            <a:avLst>
              <a:gd name="adj" fmla="val 7143"/>
            </a:avLst>
          </a:prstGeom>
          <a:solidFill>
            <a:srgbClr val="F2F5FA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" y="2651760"/>
            <a:ext cx="4864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示例工单中，单条内容同时包含“占道经营 + 市政设施损毁 + 非法营运”三项事实，需拆分为两个不同部门的办理事项。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90488" y="1188720"/>
            <a:ext cx="5504688" cy="2212848"/>
          </a:xfrm>
          <a:prstGeom prst="roundRect">
            <a:avLst>
              <a:gd name="adj" fmla="val 2479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91656" y="1353312"/>
            <a:ext cx="384048" cy="310896"/>
          </a:xfrm>
          <a:prstGeom prst="roundRect">
            <a:avLst>
              <a:gd name="adj" fmla="val 14706"/>
            </a:avLst>
          </a:prstGeom>
          <a:solidFill>
            <a:srgbClr val="DD7B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85432" y="1335024"/>
            <a:ext cx="4626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部门匹配耗时，职责交叉直接导致推诿与退单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391656" y="1755648"/>
            <a:ext cx="5102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同一诉求常同时落在两个部门的职权范围内，而现场取证、后续处置又分属不同主体。新手坐席无从判断，只能凭经验或“多派几家”，退单与二次转办由此产生。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91656" y="2615184"/>
            <a:ext cx="5102352" cy="640080"/>
          </a:xfrm>
          <a:prstGeom prst="roundRect">
            <a:avLst>
              <a:gd name="adj" fmla="val 7143"/>
            </a:avLst>
          </a:prstGeom>
          <a:solidFill>
            <a:srgbClr val="F2F5FA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19672" y="2651760"/>
            <a:ext cx="4864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示例工单中出现“消防栓不属物业管理，也不属供水公司管理”“不属于市场监管部门职责范围”等明确的权责边界争议表述。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566160"/>
            <a:ext cx="5504688" cy="2212848"/>
          </a:xfrm>
          <a:prstGeom prst="roundRect">
            <a:avLst>
              <a:gd name="adj" fmla="val 2479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" y="3730752"/>
            <a:ext cx="384048" cy="310896"/>
          </a:xfrm>
          <a:prstGeom prst="roundRect">
            <a:avLst>
              <a:gd name="adj" fmla="val 14706"/>
            </a:avLst>
          </a:prstGeom>
          <a:solidFill>
            <a:srgbClr val="DD7B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97864" y="3712464"/>
            <a:ext cx="4626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信息不足时仍被迫成单，执法部门拿不到取证要件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04088" y="4133088"/>
            <a:ext cx="5102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群众常无法提供门牌号、车牌号、发生时段等关键要件。工单照样流转下去，承办部门到现场无从查起，最终以“未发现相关情况”结案，群众二次来电，形成空转。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04088" y="4992624"/>
            <a:ext cx="5102352" cy="640080"/>
          </a:xfrm>
          <a:prstGeom prst="roundRect">
            <a:avLst>
              <a:gd name="adj" fmla="val 7143"/>
            </a:avLst>
          </a:prstGeom>
          <a:solidFill>
            <a:srgbClr val="F2F5FA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" y="5029200"/>
            <a:ext cx="4864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示例工单中，交通执法部门答复“暂未发现有非法营运情况”，而原始诉求中确实未提供任何车辆信息。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90488" y="3566160"/>
            <a:ext cx="5504688" cy="2212848"/>
          </a:xfrm>
          <a:prstGeom prst="roundRect">
            <a:avLst>
              <a:gd name="adj" fmla="val 2479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91656" y="3730752"/>
            <a:ext cx="384048" cy="310896"/>
          </a:xfrm>
          <a:prstGeom prst="roundRect">
            <a:avLst>
              <a:gd name="adj" fmla="val 14706"/>
            </a:avLst>
          </a:prstGeom>
          <a:solidFill>
            <a:srgbClr val="DD7B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885432" y="3712464"/>
            <a:ext cx="4626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答复质量不一致，且缺少依据支撑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391656" y="4133088"/>
            <a:ext cx="5102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答复文书格式高度模板化，但引用哪条法规、由谁落款、是否需要多部门分段答复，全靠人工判断。一旦引用失效条款或作出越权承诺，就是行政风险。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91656" y="4992624"/>
            <a:ext cx="5102352" cy="640080"/>
          </a:xfrm>
          <a:prstGeom prst="roundRect">
            <a:avLst>
              <a:gd name="adj" fmla="val 7143"/>
            </a:avLst>
          </a:prstGeom>
          <a:solidFill>
            <a:srgbClr val="F2F5FA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19672" y="5029200"/>
            <a:ext cx="4864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示例工单答复中引用了《城镇燃气管理条例》《公共场所卫生管理条例》等具体条款——这说明依据引用是真实业务需求，而非加分项包装。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638251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证据来源：公开发布的 12345 示例工单（12 个事项大类各 1~2 件），人名与联系方式已脱敏。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3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87552" y="329184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为什么“接个大模型”解决不了这件事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778240" y="3840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政务场景的三个死穴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602736" cy="1810512"/>
          </a:xfrm>
          <a:prstGeom prst="roundRect">
            <a:avLst>
              <a:gd name="adj" fmla="val 3030"/>
            </a:avLst>
          </a:prstGeom>
          <a:solidFill>
            <a:srgbClr val="FDF3F3"/>
          </a:solidFill>
          <a:ln w="12700">
            <a:solidFill>
              <a:srgbClr val="F2CF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335024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31673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2C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主体对不上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1755648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A3B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同一个责任主体在不同文件里叫法不同——“经开区”“经济技术开发区管委会”“龙山街道城管中队”。模型很容易把职责挂到错误的层级上。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88536" y="1188720"/>
            <a:ext cx="3602736" cy="1810512"/>
          </a:xfrm>
          <a:prstGeom prst="roundRect">
            <a:avLst>
              <a:gd name="adj" fmla="val 3030"/>
            </a:avLst>
          </a:prstGeom>
          <a:solidFill>
            <a:srgbClr val="FDF3F3"/>
          </a:solidFill>
          <a:ln w="12700">
            <a:solidFill>
              <a:srgbClr val="F2CF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9704" y="1335024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928616" y="131673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2C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规则冲突被忽略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489704" y="1755648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A3B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两条同时有效的规定指向不同部门时，模型倾向于择一输出，且给出的理由听起来很有道理。错误因此变得难以发现。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74152" y="1188720"/>
            <a:ext cx="3602736" cy="1810512"/>
          </a:xfrm>
          <a:prstGeom prst="roundRect">
            <a:avLst>
              <a:gd name="adj" fmla="val 3030"/>
            </a:avLst>
          </a:prstGeom>
          <a:solidFill>
            <a:srgbClr val="FDF3F3"/>
          </a:solidFill>
          <a:ln w="12700">
            <a:solidFill>
              <a:srgbClr val="F2CFC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75320" y="1335024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714232" y="131673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2C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证据不足仍给确定答案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1755648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A3B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关键要件缺失时，模型不会说“我不知道”，而会补一个看起来合理的承办单位。这在政务场景里是最危险的失败模式。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31272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7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结论：接线员不敢采纳，系统就等于没上线。可靠性必须做在流程与证据管理里，而不是寄希望于模型更大一点。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566160"/>
            <a:ext cx="11173968" cy="384048"/>
          </a:xfrm>
          <a:prstGeom prst="rect">
            <a:avLst/>
          </a:prstGeom>
          <a:solidFill>
            <a:srgbClr val="0F3C86"/>
          </a:solidFill>
          <a:ln w="12700">
            <a:solidFill>
              <a:srgbClr val="0F3C8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386584" y="35661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常见的“套壳 Prompt”做法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592824" y="3566160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本方案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3950208"/>
            <a:ext cx="11173968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AEF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" y="39502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职责交叉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386584" y="39502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择一输出，理由自洽但不可验证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592824" y="3950208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6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判为「权责交叉」，主协办双列，冲突规则并陈，交人工定音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4407408"/>
            <a:ext cx="1117396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" y="44074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信息缺失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386584" y="44074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补全一个合理的承办单位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592824" y="4407408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6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判为「信息不足」，列出缺哪几项要件，生成回访追问话术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4864608"/>
            <a:ext cx="11173968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AEF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9224" y="48646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不属受理范围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386584" y="48646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仍生成一个部门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592824" y="4864608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6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判为「非本渠道」，给出正确导流路径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5321808"/>
            <a:ext cx="1117396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9224" y="53218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推荐依据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2386584" y="53218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一段自然语言解释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592824" y="5321808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6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可下钻到法规条款与权责清单的具体片段编号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920" y="5779008"/>
            <a:ext cx="11173968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AEFF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9224" y="57790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失败代价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2386584" y="57790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错派→退单→二次来电→群众不满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592824" y="5779008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6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宁可多一次人工确认，也不产生一次错派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3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87552" y="329184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解决方案：四位一体的全流程闭环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778240" y="3840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信息在环节之间真实流转，而非四个互不相干的问答模块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679192" cy="1737360"/>
          </a:xfrm>
          <a:prstGeom prst="roundRect">
            <a:avLst>
              <a:gd name="adj" fmla="val 3158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335024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5A64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24712" y="13167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录音理解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1755648"/>
            <a:ext cx="2286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双模态输入，说话人分离，八项要素结构化抽取，缺失与歧义主动提示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191256" y="1188720"/>
            <a:ext cx="1737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C2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64992" y="1188720"/>
            <a:ext cx="2679192" cy="1737360"/>
          </a:xfrm>
          <a:prstGeom prst="roundRect">
            <a:avLst>
              <a:gd name="adj" fmla="val 3158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335024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5A64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86784" y="13167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工单生成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1755648"/>
            <a:ext cx="2286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标题·摘要·诉求·关键要素·建议类别，忠实原话，不虚构不改写事实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053328" y="1188720"/>
            <a:ext cx="1737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C2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27064" y="1188720"/>
            <a:ext cx="2679192" cy="1737360"/>
          </a:xfrm>
          <a:prstGeom prst="roundRect">
            <a:avLst>
              <a:gd name="adj" fmla="val 3158"/>
            </a:avLst>
          </a:prstGeom>
          <a:solidFill>
            <a:srgbClr val="EAF1FD"/>
          </a:solidFill>
          <a:ln w="12700">
            <a:solidFill>
              <a:srgbClr val="BFD3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8232" y="1335024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0F3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48856" y="13167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精准转派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428232" y="1755648"/>
            <a:ext cx="2286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事项分类 + 属地×职能匹配 + 四态裁决 + 主协办推荐 + 溯源理由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915400" y="1188720"/>
            <a:ext cx="1737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C2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89136" y="1188720"/>
            <a:ext cx="2679192" cy="1737360"/>
          </a:xfrm>
          <a:prstGeom prst="roundRect">
            <a:avLst>
              <a:gd name="adj" fmla="val 3158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90304" y="1335024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5A64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710928" y="13167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合规回复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9290304" y="1755648"/>
            <a:ext cx="2286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受理提示·办理建议·预回复·回访话术·修改建议 + 合规校验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127248"/>
            <a:ext cx="11173968" cy="13716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3255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环节之间传递的是什么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35844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原话锚点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3840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转写文本中每句话的位置，工单每个字段都能回指到群众原话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3456432" y="35844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要素置信度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3456432" y="3840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字段级置信度向下游传递，低置信度字段会阻断自动裁决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181344" y="35844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证据编号集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181344" y="3840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裁决用到的每个片段编号随单流转，答复生成时复用同一批依据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8906256" y="35844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裁决状态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906256" y="3840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四态结果决定后续是直接派单、双派、追问还是导流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920" y="4681728"/>
            <a:ext cx="11173968" cy="1371600"/>
          </a:xfrm>
          <a:prstGeom prst="roundRect">
            <a:avLst>
              <a:gd name="adj" fmla="val 4000"/>
            </a:avLst>
          </a:prstGeom>
          <a:solidFill>
            <a:srgbClr val="E9F7F1"/>
          </a:solidFill>
          <a:ln w="12700">
            <a:solidFill>
              <a:srgbClr val="BFE6D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48097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贯穿始终的一条底线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31520" y="5120640"/>
            <a:ext cx="10698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452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只提供辅助建议。工单内容、事项类别、承办单位、答复文本，全部需要工作人员审核确认后方可生效；系统不具备向群众自动发送任何内容的能力。工作人员的每一次修改都会被记录，既是审计留痕，也是模型迭代的样本来源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3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87552" y="329184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 ① · 四态裁决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778240" y="3840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让系统敢于说“这单我判不了”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7043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我们把“推荐承办单位”这件事，从一个生成任务，改造成一个带状态的判定任务。系统必须先回答“现有材料够不够得出唯一结论”，再决定要不要给结论。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11173968" cy="1060704"/>
          </a:xfrm>
          <a:prstGeom prst="roundRect">
            <a:avLst>
              <a:gd name="adj" fmla="val 5172"/>
            </a:avLst>
          </a:prstGeom>
          <a:solidFill>
            <a:srgbClr val="E9F7F1"/>
          </a:solidFill>
          <a:ln w="12700">
            <a:solidFill>
              <a:srgbClr val="BFE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810512"/>
            <a:ext cx="1481328" cy="384048"/>
          </a:xfrm>
          <a:prstGeom prst="roundRect">
            <a:avLst>
              <a:gd name="adj" fmla="val 19048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可直接派单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17739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2011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规则适用范围命中，责任主体唯一，关键要件齐备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17739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系统动作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20116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直接给出主办单位与协办单位，附条款级依据，工作人员一键采纳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018520" y="17739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9F6E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11173968" cy="1060704"/>
          </a:xfrm>
          <a:prstGeom prst="roundRect">
            <a:avLst>
              <a:gd name="adj" fmla="val 5172"/>
            </a:avLst>
          </a:prstGeom>
          <a:solidFill>
            <a:srgbClr val="FDF1E3"/>
          </a:solidFill>
          <a:ln w="12700">
            <a:solidFill>
              <a:srgbClr val="F0D3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2999232"/>
            <a:ext cx="1481328" cy="384048"/>
          </a:xfrm>
          <a:prstGeom prst="roundRect">
            <a:avLst>
              <a:gd name="adj" fmla="val 19048"/>
            </a:avLst>
          </a:prstGeom>
          <a:solidFill>
            <a:srgbClr val="DD7B14"/>
          </a:solidFill>
          <a:ln w="12700">
            <a:solidFill>
              <a:srgbClr val="DD7B1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299923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权责交叉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29626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3200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两条以上同时有效的规则指向不同责任主体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29626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系统动作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32004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并列展示冲突规则与各自主体，建议主协办双派，明确提示需人工定音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018520" y="296265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D7B14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4005072"/>
            <a:ext cx="11173968" cy="1060704"/>
          </a:xfrm>
          <a:prstGeom prst="roundRect">
            <a:avLst>
              <a:gd name="adj" fmla="val 5172"/>
            </a:avLst>
          </a:prstGeom>
          <a:solidFill>
            <a:srgbClr val="EAF1FD"/>
          </a:solidFill>
          <a:ln w="12700">
            <a:solidFill>
              <a:srgbClr val="BFD3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4187952"/>
            <a:ext cx="1481328" cy="384048"/>
          </a:xfrm>
          <a:prstGeom prst="roundRect">
            <a:avLst>
              <a:gd name="adj" fmla="val 19048"/>
            </a:avLst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" y="418795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信息不足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377440" y="4151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2377440" y="43891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缺少构成事实要件或定位要件的关键信息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4151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系统动作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43891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列出具体缺哪几项，生成面向群众的追问话术，补齐后再进入裁决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018520" y="4151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6FD9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02920" y="5193792"/>
            <a:ext cx="11173968" cy="1060704"/>
          </a:xfrm>
          <a:prstGeom prst="roundRect">
            <a:avLst>
              <a:gd name="adj" fmla="val 5172"/>
            </a:avLst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" y="5376672"/>
            <a:ext cx="1481328" cy="384048"/>
          </a:xfrm>
          <a:prstGeom prst="roundRect">
            <a:avLst>
              <a:gd name="adj" fmla="val 19048"/>
            </a:avLst>
          </a:prstGeom>
          <a:solidFill>
            <a:srgbClr val="6E7787"/>
          </a:solidFill>
          <a:ln w="12700">
            <a:solidFill>
              <a:srgbClr val="6E778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13232" y="537667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非本渠道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2377440" y="53400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2377440" y="55778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诉求主体或事项不属于热线受理与行政办理范围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766560" y="53400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系统动作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6766560" y="55778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不生成承办单位，给出正确导流路径（如司法途径、专线渠道）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1018520" y="53400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E7787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638251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设计取舍：宁可让工作人员多确认一次，也不让系统在证据不足时输出一个看起来合理的错误答案——错派的代价由群众和承办部门共同承担。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3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87552" y="329184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 ② · 条款级证据溯源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778240" y="3840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每一条建议，都能被追问“凭什么”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61872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0F3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22529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切片与编号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1207008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政策法规、权责清单、分类目录、历史工单全部切分为文本片段，每个片段拥有唯一编号与来源元数据（文件名、发布日期、章条位置）。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231136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0F3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1945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主体对齐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176272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建立部门别名词典与层级图谱，把“经开区”“经济技术开发区管委会”“龙山街道城管中队”归一到同一权责主体，并区分属地维度与职能维度。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20040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0F3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1638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混合检索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3145536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向量语义检索 + BM25 关键词检索并行召回，再按规则适用范围与时效性过滤，避免只靠语义相似度命中失效条款。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169664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0F3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1330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最小充分证据集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4114800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从召回结果中裁剪出“恰好足以推出结论”的最小片段集合——多一条无关证据就会稀释可信度，也会让审核人员失去焦点。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5138928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0F3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1023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随单流转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5084064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裁决用到的证据编号集写入工单，转派到承办部门时一并携带；部门若不认可，可直接指出是哪一条依据用错了。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75320" y="1207008"/>
            <a:ext cx="3401568" cy="4828032"/>
          </a:xfrm>
          <a:prstGeom prst="roundRect">
            <a:avLst>
              <a:gd name="adj" fmla="val 1613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85632" y="13350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一条建议长什么样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485632" y="1682496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诉求项②　夜间私家车非法营运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485632" y="1975104"/>
            <a:ext cx="1481328" cy="292608"/>
          </a:xfrm>
          <a:prstGeom prst="roundRect">
            <a:avLst>
              <a:gd name="adj" fmla="val 18750"/>
            </a:avLst>
          </a:prstGeom>
          <a:solidFill>
            <a:srgbClr val="DD7B14"/>
          </a:solidFill>
          <a:ln w="12700">
            <a:solidFill>
              <a:srgbClr val="DD7B1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85632" y="197510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权责交叉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485632" y="2395728"/>
            <a:ext cx="512064" cy="237744"/>
          </a:xfrm>
          <a:prstGeom prst="roundRect">
            <a:avLst>
              <a:gd name="adj" fmla="val 15385"/>
            </a:avLst>
          </a:prstGeom>
          <a:solidFill>
            <a:srgbClr val="5A64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主办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9089136" y="23957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芜湖市交通运输局（第七执法大队）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485632" y="2706624"/>
            <a:ext cx="512064" cy="237744"/>
          </a:xfrm>
          <a:prstGeom prst="roundRect">
            <a:avLst>
              <a:gd name="adj" fmla="val 15385"/>
            </a:avLst>
          </a:prstGeom>
          <a:solidFill>
            <a:srgbClr val="5A64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协办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9089136" y="27066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芜湖市公安局交警支队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85632" y="3072384"/>
            <a:ext cx="29809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31936" y="31455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7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检出规则冲突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631936" y="3383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　《道路运输条例》第六十三条 → 指向道路运输管理机构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E7　联合执法协作规程 → 现场拦截与信息核验须公安交管实施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两条规则同时有效且指向不同主体，系统不自行择一。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485632" y="4352544"/>
            <a:ext cx="2980944" cy="9144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 w="12700">
            <a:solidFill>
              <a:srgbClr val="BFD3F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31936" y="44256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F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同时判定：信息不足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631936" y="4663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2D4E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缺少车牌号与固定高发时段，E2 所需的“从事经营活动”事实要件无法闭合 —— 已生成回访追问话术。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485632" y="539496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工作人员看到的不是一个答案，而是一份可以被质询的判断。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3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87552" y="329184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智能体技术架构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778240" y="3840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五层结构 + 知识底座 + 贯穿能力</a:t>
            </a:r>
            <a:endParaRPr lang="en-US" sz="1100" dirty="0"/>
          </a:p>
        </p:txBody>
      </p:sp>
      <p:pic>
        <p:nvPicPr>
          <p:cNvPr id="5" name="Image 0" descr="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960120"/>
            <a:ext cx="11430000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3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87552" y="329184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产品原型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778240" y="3840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单一工作台内完成全流程，无需在多个系统间切换</a:t>
            </a:r>
            <a:endParaRPr lang="en-US" sz="1100" dirty="0"/>
          </a:p>
        </p:txBody>
      </p:sp>
      <p:pic>
        <p:nvPicPr>
          <p:cNvPr id="5" name="Image 0" descr="p_disp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15568"/>
            <a:ext cx="6858000" cy="38587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506577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受理工作台 · 转派裁决视图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5358384"/>
            <a:ext cx="6858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左栏是来电与转写留痕，中栏是「诉求理解 → 工单生成 → 四态裁决 → 答复生成」的流水线，右栏是实时命中的证据链。已完成的环节自动折叠为一行摘要，保证任何时刻屏幕上只有一件事需要工作人员处理；每条推荐理由里的 E1/E2/E7 角标都可点开，直接定位到右栏对应的条款片段。</a:t>
            </a:r>
            <a:endParaRPr lang="en-US" sz="1050" dirty="0"/>
          </a:p>
        </p:txBody>
      </p:sp>
      <p:pic>
        <p:nvPicPr>
          <p:cNvPr id="8" name="Image 1" descr="c_ele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115568"/>
            <a:ext cx="4096512" cy="17007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589520" y="287121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要素抽取与缺失项主动提示</a:t>
            </a:r>
            <a:endParaRPr lang="en-US" sz="1150" dirty="0"/>
          </a:p>
        </p:txBody>
      </p:sp>
      <p:pic>
        <p:nvPicPr>
          <p:cNvPr id="10" name="Image 2" descr="c_repl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3218688"/>
            <a:ext cx="4096512" cy="223113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589520" y="5504688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合规答复生成与四项合规校验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3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87552" y="329184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技术可行性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778240" y="3840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不靠更大的模型，靠更严的流程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6858000" cy="109728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3350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0E9F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131673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固定规模模型 + 常规推理即可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64592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把判断权从模型手里收回到规则计算与状态机，模型只负责语言理解与生成。因此不依赖超大参数模型，也不依赖长链路深度思考，单件推理成本与时延可控。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395728"/>
            <a:ext cx="6858000" cy="109728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254203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0E9F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52374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知识库与训练评测数据均已有确定来源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85292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政策法规取自政府公开发布的文件，权责清单取自公开的三定方案与权责事项目录；答复风格对齐与质量评测可直接使用合作伙伴平台上 MIT 许可的《政务热线服务 AI 问答对训练数据集》——2500 条真实 12345 工单的口语化提问与规范答复配对，并附满意度回访标签作为监督信号。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602736"/>
            <a:ext cx="6858000" cy="109728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3749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0E9F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373075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交付即容器，配置即表格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4059936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知识库、权责清单、别名词典、阈值策略全部通过后台表格导入，不写死在代码里。新增一个地市 = 换一套配置，不是改一次代码。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809744"/>
            <a:ext cx="6858000" cy="109728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495604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0E9F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493776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同构内核已在另一个高风险领域跑通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5266944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检索/生成表征解耦、混合检索加专用重排、逐句溯源、资料未覆盖显式拒答——这套组合已在医疗循证问答系统 MedRAG 上完整实现并取得可复算指标，本项目是把它迁移到政务场景。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589520" y="1188720"/>
            <a:ext cx="4096512" cy="2377440"/>
          </a:xfrm>
          <a:prstGeom prst="roundRect">
            <a:avLst>
              <a:gd name="adj" fmla="val 2308"/>
            </a:avLst>
          </a:prstGeom>
          <a:solidFill>
            <a:srgbClr val="EAF1FD"/>
          </a:solidFill>
          <a:ln w="12700">
            <a:solidFill>
              <a:srgbClr val="BFD3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18120" y="1316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关键技术指标（目标值）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818120" y="16642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E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端到端处理时延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0241280" y="16642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60 秒 / 件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818120" y="1965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E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要素抽取字段准确率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0" y="19659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92%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818120" y="22677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E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主办单位 Top-1 命中率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0" y="22677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85%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818120" y="25694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E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主办单位 Top-3 命中率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0" y="25694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95%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818120" y="28712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E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冲突与信息不足召回率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0241280" y="28712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90%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818120" y="31729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E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推荐理由可溯源比例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0241280" y="31729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589520" y="3749040"/>
            <a:ext cx="4096512" cy="2286000"/>
          </a:xfrm>
          <a:prstGeom prst="roundRect">
            <a:avLst>
              <a:gd name="adj" fmla="val 2400"/>
            </a:avLst>
          </a:prstGeom>
          <a:solidFill>
            <a:srgbClr val="FDF1E3"/>
          </a:solidFill>
          <a:ln w="12700">
            <a:solidFill>
              <a:srgbClr val="F0D3A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818120" y="38770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5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最大的技术风险，以及我们怎么应对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7818120" y="4206240"/>
            <a:ext cx="365760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54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风险：权责清单在不同地市差异极大，且会随机构改革变动，直接决定转派准确率。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54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应对：把权责知识与算法彻底解耦——清单以表格形式独立维护，支持版本化与生效日期；系统在裁决时校验条目时效，过期条目自动降级为“信息不足”而非继续沿用。机构改革不再意味着重新开发。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3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87552" y="329184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合规意识与安全边界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778240" y="3840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政务产品的第一属性不是聪明，是不出事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602736" cy="2231136"/>
          </a:xfrm>
          <a:prstGeom prst="roundRect">
            <a:avLst>
              <a:gd name="adj" fmla="val 2459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353312"/>
            <a:ext cx="384048" cy="292608"/>
          </a:xfrm>
          <a:prstGeom prst="roundRect">
            <a:avLst>
              <a:gd name="adj" fmla="val 15625"/>
            </a:avLst>
          </a:prstGeom>
          <a:solidFill>
            <a:srgbClr val="0F3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97864" y="13350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人机权责边界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1755648"/>
            <a:ext cx="32004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输出一律标注为“建议”，工单、类别、承办单位、答复文本均须工作人员确认后生效；系统不具备对外发送能力，不直接触达群众。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04088" y="2944368"/>
            <a:ext cx="3200400" cy="329184"/>
          </a:xfrm>
          <a:prstGeom prst="roundRect">
            <a:avLst>
              <a:gd name="adj" fmla="val 13889"/>
            </a:avLst>
          </a:prstGeom>
          <a:solidFill>
            <a:srgbClr val="E9F7F1"/>
          </a:solidFill>
          <a:ln w="12700">
            <a:solidFill>
              <a:srgbClr val="BFE6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" y="2944368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责任始终在人，不在算法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88536" y="1188720"/>
            <a:ext cx="3602736" cy="2231136"/>
          </a:xfrm>
          <a:prstGeom prst="roundRect">
            <a:avLst>
              <a:gd name="adj" fmla="val 2459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9704" y="1353312"/>
            <a:ext cx="384048" cy="292608"/>
          </a:xfrm>
          <a:prstGeom prst="roundRect">
            <a:avLst>
              <a:gd name="adj" fmla="val 15625"/>
            </a:avLst>
          </a:prstGeom>
          <a:solidFill>
            <a:srgbClr val="0F3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13350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个人信息保护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489704" y="1755648"/>
            <a:ext cx="32004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姓名、手机号、身份证号、门牌等个人信息在入库前脱敏；演示与训练素材仅使用公开发布且已脱敏的工单；遵循最小必要原则，不留存与办件无关的个人信息。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9704" y="2944368"/>
            <a:ext cx="3200400" cy="329184"/>
          </a:xfrm>
          <a:prstGeom prst="roundRect">
            <a:avLst>
              <a:gd name="adj" fmla="val 13889"/>
            </a:avLst>
          </a:prstGeom>
          <a:solidFill>
            <a:srgbClr val="E9F7F1"/>
          </a:solidFill>
          <a:ln w="12700">
            <a:solidFill>
              <a:srgbClr val="BFE6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17720" y="2944368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不留不该留的数据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74152" y="1188720"/>
            <a:ext cx="3602736" cy="2231136"/>
          </a:xfrm>
          <a:prstGeom prst="roundRect">
            <a:avLst>
              <a:gd name="adj" fmla="val 2459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75320" y="1353312"/>
            <a:ext cx="384048" cy="292608"/>
          </a:xfrm>
          <a:prstGeom prst="roundRect">
            <a:avLst>
              <a:gd name="adj" fmla="val 15625"/>
            </a:avLst>
          </a:prstGeom>
          <a:solidFill>
            <a:srgbClr val="0F3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769096" y="13350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依据来源可核验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1755648"/>
            <a:ext cx="32004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引用的政策文件均注明文件名称、公开来源与适用范围；条款附生效日期校验，失效条款不参与裁决；不引用内部未公开材料作为对外答复依据。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75320" y="2944368"/>
            <a:ext cx="3200400" cy="329184"/>
          </a:xfrm>
          <a:prstGeom prst="roundRect">
            <a:avLst>
              <a:gd name="adj" fmla="val 13889"/>
            </a:avLst>
          </a:prstGeom>
          <a:solidFill>
            <a:srgbClr val="E9F7F1"/>
          </a:solidFill>
          <a:ln w="12700">
            <a:solidFill>
              <a:srgbClr val="BFE6D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03336" y="2944368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说得出出处，经得起复核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584448"/>
            <a:ext cx="3602736" cy="2231136"/>
          </a:xfrm>
          <a:prstGeom prst="roundRect">
            <a:avLst>
              <a:gd name="adj" fmla="val 2459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4088" y="3749040"/>
            <a:ext cx="384048" cy="292608"/>
          </a:xfrm>
          <a:prstGeom prst="roundRect">
            <a:avLst>
              <a:gd name="adj" fmla="val 15625"/>
            </a:avLst>
          </a:prstGeom>
          <a:solidFill>
            <a:srgbClr val="0F3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97864" y="37307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全流程审计留痕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" y="4151376"/>
            <a:ext cx="32004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输入、AI 建议、人工修改、最终定音四段全程留痕，可按工单号、坐席、时间回溯；退单与投诉可精确定位到是哪一步、哪一条依据出了问题。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04088" y="5340096"/>
            <a:ext cx="3200400" cy="329184"/>
          </a:xfrm>
          <a:prstGeom prst="roundRect">
            <a:avLst>
              <a:gd name="adj" fmla="val 13889"/>
            </a:avLst>
          </a:prstGeom>
          <a:solidFill>
            <a:srgbClr val="E9F7F1"/>
          </a:solidFill>
          <a:ln w="12700">
            <a:solidFill>
              <a:srgbClr val="BFE6D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2104" y="5340096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可追责，才可推广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288536" y="3584448"/>
            <a:ext cx="3602736" cy="2231136"/>
          </a:xfrm>
          <a:prstGeom prst="roundRect">
            <a:avLst>
              <a:gd name="adj" fmla="val 2459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489704" y="3749040"/>
            <a:ext cx="384048" cy="292608"/>
          </a:xfrm>
          <a:prstGeom prst="roundRect">
            <a:avLst>
              <a:gd name="adj" fmla="val 15625"/>
            </a:avLst>
          </a:prstGeom>
          <a:solidFill>
            <a:srgbClr val="0F3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983480" y="37307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答复合规校验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489704" y="4151376"/>
            <a:ext cx="32004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自动检测越权承诺、绝对化表述、时限承诺缺失、模板要素不全，并提示修改建议；多部门联办时按部门分段生成，避免口径打架。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89704" y="5340096"/>
            <a:ext cx="3200400" cy="329184"/>
          </a:xfrm>
          <a:prstGeom prst="roundRect">
            <a:avLst>
              <a:gd name="adj" fmla="val 13889"/>
            </a:avLst>
          </a:prstGeom>
          <a:solidFill>
            <a:srgbClr val="E9F7F1"/>
          </a:solidFill>
          <a:ln w="12700">
            <a:solidFill>
              <a:srgbClr val="BFE6D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617720" y="5340096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把行政风险挡在发出之前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074152" y="3584448"/>
            <a:ext cx="3602736" cy="2231136"/>
          </a:xfrm>
          <a:prstGeom prst="roundRect">
            <a:avLst>
              <a:gd name="adj" fmla="val 2459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75320" y="3749040"/>
            <a:ext cx="384048" cy="292608"/>
          </a:xfrm>
          <a:prstGeom prst="roundRect">
            <a:avLst>
              <a:gd name="adj" fmla="val 15625"/>
            </a:avLst>
          </a:prstGeom>
          <a:solidFill>
            <a:srgbClr val="0F3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769096" y="37307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部署与数据不出域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275320" y="4151376"/>
            <a:ext cx="32004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支持政务云私有化部署，数据不出政务网；适配信创环境与等级保护要求；模型与知识库均可本地化，不依赖外部公网服务。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275320" y="5340096"/>
            <a:ext cx="3200400" cy="329184"/>
          </a:xfrm>
          <a:prstGeom prst="roundRect">
            <a:avLst>
              <a:gd name="adj" fmla="val 13889"/>
            </a:avLst>
          </a:prstGeom>
          <a:solidFill>
            <a:srgbClr val="E9F7F1"/>
          </a:solidFill>
          <a:ln w="12700">
            <a:solidFill>
              <a:srgbClr val="BFE6D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403336" y="5340096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符合政务信息化的现实约束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3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87552" y="329184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应用价值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778240" y="3840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价值必须能被算出来，才能被买单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521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以单地市热线中心为口径，把效率提升折算成可核对的工时与金额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11173968" cy="402336"/>
          </a:xfrm>
          <a:prstGeom prst="rect">
            <a:avLst/>
          </a:prstGeom>
          <a:solidFill>
            <a:srgbClr val="0F3C86"/>
          </a:solidFill>
          <a:ln w="12700">
            <a:solidFill>
              <a:srgbClr val="0F3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" y="1536192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热线中心规模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551176" y="153619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年受理工单量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379976" y="153619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每件节省工时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117336" y="153619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年节省工时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129016" y="153619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折合全职人力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957816" y="1536192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年化人力价值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1938528"/>
            <a:ext cx="111739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" y="193852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小型地市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551176" y="1938528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万件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379976" y="1938528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分钟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117336" y="1938528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20,833 小时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129016" y="1938528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11.6 人年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957816" y="1938528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87 万元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359152"/>
            <a:ext cx="11173968" cy="420624"/>
          </a:xfrm>
          <a:prstGeom prst="rect">
            <a:avLst/>
          </a:prstGeom>
          <a:solidFill>
            <a:srgbClr val="EAF1FD"/>
          </a:solidFill>
          <a:ln w="6350">
            <a:solidFill>
              <a:srgbClr val="EAEF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0936" y="235915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中型地市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551176" y="235915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万件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379976" y="2359152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分钟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117336" y="2359152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41,667 小时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129016" y="235915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23.1 人年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957816" y="2359152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175 万元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2779776"/>
            <a:ext cx="111739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0936" y="2779776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大型地市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2551176" y="2779776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 万件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379976" y="2779776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分钟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117336" y="2779776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75,000 小时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129016" y="2779776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41.7 人年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957816" y="2779776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315 万元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32004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测算口径：每件节省工时取“多诉求、需跨部门判断”工单的保守估计；坐席综合人力成本按 42 元/工时计。实际节省随工单复杂度分布浮动。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" y="3602736"/>
            <a:ext cx="2679192" cy="2212848"/>
          </a:xfrm>
          <a:prstGeom prst="roundRect">
            <a:avLst>
              <a:gd name="adj" fmla="val 2479"/>
            </a:avLst>
          </a:prstGeom>
          <a:solidFill>
            <a:srgbClr val="EAF1FD"/>
          </a:solidFill>
          <a:ln w="12700">
            <a:solidFill>
              <a:srgbClr val="BFD3F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04088" y="37490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对热线中心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04088" y="4151376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4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单件处理工时下降，退单率与二次转办下降；新坐席上岗周期从“靠师傅带”变为“靠系统兜底”，人员流动的影响被显著削弱。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364992" y="3602736"/>
            <a:ext cx="2679192" cy="2212848"/>
          </a:xfrm>
          <a:prstGeom prst="roundRect">
            <a:avLst>
              <a:gd name="adj" fmla="val 2479"/>
            </a:avLst>
          </a:prstGeom>
          <a:solidFill>
            <a:srgbClr val="E9F7F1"/>
          </a:solidFill>
          <a:ln w="12700">
            <a:solidFill>
              <a:srgbClr val="BFE6D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566160" y="37490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对承办部门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3566160" y="4151376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4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接到的是要素齐全、依据明确的工单，而不是一句“相关部门核实处理”；对不认可的转派可直接指出依据错在哪，减少扯皮成本。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27064" y="3602736"/>
            <a:ext cx="2679192" cy="2212848"/>
          </a:xfrm>
          <a:prstGeom prst="roundRect">
            <a:avLst>
              <a:gd name="adj" fmla="val 2479"/>
            </a:avLst>
          </a:prstGeom>
          <a:solidFill>
            <a:srgbClr val="FDF1E3"/>
          </a:solidFill>
          <a:ln w="12700">
            <a:solidFill>
              <a:srgbClr val="F0D3A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28232" y="37490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7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对群众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428232" y="4151376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4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不必为同一件事反复说明，不必因部门之间的边界问题被来回推；答复有依据、有落款、有联系方式，可核可查。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089136" y="3602736"/>
            <a:ext cx="2679192" cy="2212848"/>
          </a:xfrm>
          <a:prstGeom prst="roundRect">
            <a:avLst>
              <a:gd name="adj" fmla="val 2479"/>
            </a:avLst>
          </a:prstGeom>
          <a:solidFill>
            <a:srgbClr val="F1F1FB"/>
          </a:solidFill>
          <a:ln w="12700">
            <a:solidFill>
              <a:srgbClr val="D2D6F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290304" y="37490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对治理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9290304" y="4151376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4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高频诉求自动聚类形成热点态势，把“接诉即办”的被动响应，向“未诉先办”的主动治理推进一步。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3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87552" y="329184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市场与进入路径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778240" y="3840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不做总包，做被总包需要的那块模块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167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客户分层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6824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地市级 12345 热线中心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682496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5A64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主战场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93852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核心客群。坐席规模大、跨部门转派复杂、有信息化预算与考核压力。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3225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区县级热线与网格中心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322576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5A64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走量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57860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单价低但决策链短，适合快速铺量与打样板。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9626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政务云与集成商生态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962656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5A64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21868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作为标准组件被打包进更大的智慧城市项目，借船出海。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81928" y="1188720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EAF1FD"/>
          </a:solidFill>
          <a:ln w="12700">
            <a:solidFill>
              <a:srgbClr val="BFD3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10528" y="13167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为什么一定要走渠道，而不是自己去投标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10528" y="1664208"/>
            <a:ext cx="493776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2D4E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务总包需要资质、需要垫资、需要长期驻场，这三件事都不是一人公司能承担的。作为二级供应商与软件分包方，我们背靠背签订软件采购合同，只交付软件模块与知识库配置，把投标、集成、驻场运维和垫资全部留给总包方。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2D4E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代价是让出一部分毛利（分包系数 55%~65%），换来的是：不需要资质、不需要垫资、不需要养销售团队，也不必承担项目整体交付风险。对一人公司而言，这不是次优选择，而是唯一可持续的选择。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37124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三步走的落地路径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4078224"/>
            <a:ext cx="3602736" cy="1956816"/>
          </a:xfrm>
          <a:prstGeom prst="roundRect">
            <a:avLst>
              <a:gd name="adj" fmla="val 2804"/>
            </a:avLst>
          </a:prstGeom>
          <a:solidFill>
            <a:srgbClr val="FDF1E3"/>
          </a:solidFill>
          <a:ln w="12700">
            <a:solidFill>
              <a:srgbClr val="F0D3A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4088" y="4224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5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 · 样板间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4224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6~9 个月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" y="4553712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8A54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以一个地市（或区县）为标杆，半价甚至贴本交付，换取真实场景验证、可公开引用的效果数据与客户背书。这一单不赚钱，赚的是后面所有单的入场券。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88536" y="4078224"/>
            <a:ext cx="3602736" cy="1956816"/>
          </a:xfrm>
          <a:prstGeom prst="roundRect">
            <a:avLst>
              <a:gd name="adj" fmla="val 2804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89704" y="4224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 · 进生态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75704" y="4224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9~18 个月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489704" y="4553712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以标杆案例申请进入政务云 ISV 生态与产品目录，成为集成商的可选模块。此阶段的核心动作不是销售，是把交付标准化到“换配置即可上线”。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74152" y="4078224"/>
            <a:ext cx="3602736" cy="1956816"/>
          </a:xfrm>
          <a:prstGeom prst="roundRect">
            <a:avLst>
              <a:gd name="adj" fmla="val 2804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75320" y="4224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 · 复制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561320" y="4224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18~36 个月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4553712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跟随渠道进入更多地市，自交付产能不足的部分由认证实施伙伴承担；存量客户的年度服务费开始形成稳定现金流，收入结构从项目制转向订阅制。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3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87552" y="329184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商业模式与定价逻辑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778240" y="3840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价格从客户省下的钱里推出来，而不是拍出来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DF1E3"/>
          </a:solidFill>
          <a:ln w="12700">
            <a:solidFill>
              <a:srgbClr val="F0D3A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2984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5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定价锚：以中型地市为例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591056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8A54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 50 万件工单 × 每件省 5 分钟 = 41,667 工时 ≈ 23.1 人年 ≈ 175 万元/年的人力价值。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8A54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软件按客户所得价值的 20%~30% 定价，得到合理年化价格区间 35~52 万元——中性情景取 58 万元首年（含实施），次年起按 18% 收年度服务费。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281928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三条收入线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81928" y="1554480"/>
            <a:ext cx="5394960" cy="786384"/>
          </a:xfrm>
          <a:prstGeom prst="roundRect">
            <a:avLst>
              <a:gd name="adj" fmla="val 6977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6459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软件授权（首年）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418320" y="1645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¥40~78 万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按地市部署授权，含标准实施与知识库初始化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81928" y="2414016"/>
            <a:ext cx="5394960" cy="786384"/>
          </a:xfrm>
          <a:prstGeom prst="roundRect">
            <a:avLst>
              <a:gd name="adj" fmla="val 6977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25054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年度服务费（次年起）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418320" y="2505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首年价的 15%~20%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7797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政策库更新、权责清单版本维护、模型调优与技术支持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81928" y="3273552"/>
            <a:ext cx="5394960" cy="786384"/>
          </a:xfrm>
          <a:prstGeom prst="roundRect">
            <a:avLst>
              <a:gd name="adj" fmla="val 6977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33649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专项适配（选配）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0" y="3364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¥5~12 万 / 次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6393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方言声学适配、特定委办局知识库定制、非标系统对接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27980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单地市经济模型（中性情景，公司口径）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3163824"/>
            <a:ext cx="5394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16382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终端合同额（首年）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023360" y="316382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¥58.0 万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3547872"/>
            <a:ext cx="539496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AEF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35478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分包系数 60%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023360" y="354787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¥34.8 万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3931920"/>
            <a:ext cx="5394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39319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 交付现金成本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023360" y="39319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¥5.0 万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02920" y="4315968"/>
            <a:ext cx="5394960" cy="384048"/>
          </a:xfrm>
          <a:prstGeom prst="rect">
            <a:avLst/>
          </a:prstGeom>
          <a:solidFill>
            <a:srgbClr val="EAF1FD"/>
          </a:solidFill>
          <a:ln w="6350">
            <a:solidFill>
              <a:srgbClr val="EAEF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43159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＝ 首年毛利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023360" y="431596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¥29.8 万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02920" y="4700016"/>
            <a:ext cx="5394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470001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首年毛利率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023360" y="470001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86%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02920" y="5084064"/>
            <a:ext cx="539496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AEFF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" y="50840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次年起年服务费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023360" y="508406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¥6.3 万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02920" y="5468112"/>
            <a:ext cx="5394960" cy="384048"/>
          </a:xfrm>
          <a:prstGeom prst="rect">
            <a:avLst/>
          </a:prstGeom>
          <a:solidFill>
            <a:srgbClr val="EAF1FD"/>
          </a:solidFill>
          <a:ln w="6350">
            <a:solidFill>
              <a:srgbClr val="EAEFF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5800" y="54681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年累计毛利 LTV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023360" y="546811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¥51.7 万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281928" y="4114800"/>
            <a:ext cx="5394960" cy="1737360"/>
          </a:xfrm>
          <a:prstGeom prst="roundRect">
            <a:avLst>
              <a:gd name="adj" fmla="val 3158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510528" y="42062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为什么毛利能到 85% 以上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6510528" y="4498848"/>
            <a:ext cx="4937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推理算力由客户侧承担 ——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私有化部署在政务云上，算力属客户既有采购，公司不承担按量计费的推理成本。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交付物是配置而非代码 ——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知识库、权责清单、阈值策略均为表格导入，单地市实施约 18 人日，不发生二次开发。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零销售、零渠道自建 ——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客户由总包方带来，分包系数已含渠道让利，不再单独承担获客成本。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唯一的重成本是研发时间 ——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而研发投入被所有客户复用，边际交付成本随客户数增加持续下降。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3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87552" y="329184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三情景财务测算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778240" y="3840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单位：万元　·　创始人市场化薪酬已计入成本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3602736" cy="2487168"/>
          </a:xfrm>
          <a:prstGeom prst="roundRect">
            <a:avLst>
              <a:gd name="adj" fmla="val 2206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316736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13167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保守情景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173736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73736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728216" y="173736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3736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173736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净利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" y="19751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Y1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" y="197510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728216" y="1975104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11.0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514600" y="197510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25.0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1975104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-14.0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" y="230428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Y2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161288" y="230428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728216" y="2304288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69.3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514600" y="23042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43.8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246120" y="2304288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7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25.5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" y="26334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Y3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161288" y="263347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728216" y="2633472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123.2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2514600" y="26334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63.5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3246120" y="2633472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7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56.7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04088" y="30358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渠道推进不及预期、单价被压至 40 万、首年仅打通 1 个标杆地市。第一年账面亏损，第二年转正。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88536" y="1170432"/>
            <a:ext cx="3602736" cy="2487168"/>
          </a:xfrm>
          <a:prstGeom prst="roundRect">
            <a:avLst>
              <a:gd name="adj" fmla="val 2206"/>
            </a:avLst>
          </a:prstGeom>
          <a:solidFill>
            <a:srgbClr val="EAF1FD"/>
          </a:solidFill>
          <a:ln w="12700">
            <a:solidFill>
              <a:srgbClr val="BFD3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9704" y="1316736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0F3C86"/>
          </a:solidFill>
          <a:ln w="12700">
            <a:solidFill>
              <a:srgbClr val="0F3C8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489704" y="13167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中性情景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489704" y="173736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946904" y="173736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513832" y="173736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6300216" y="173736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7031736" y="173736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净利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4489704" y="19751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Y1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946904" y="197510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5513832" y="1975104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52.2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300216" y="197510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34.0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7031736" y="1975104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17.3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489704" y="230428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Y2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4946904" y="230428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5513832" y="2304288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186.5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6300216" y="23042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62.6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7031736" y="2304288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117.7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4489704" y="26334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Y3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4946904" y="263347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5513832" y="2633472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322.2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6300216" y="26334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115.0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7031736" y="2633472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196.9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4489704" y="30358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2D4E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按计划打通 2 个标杆并进入生态，第三年覆盖 15 个地市（新增 8 + 存量 7），续费收入开始显现。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074152" y="1170432"/>
            <a:ext cx="3602736" cy="2487168"/>
          </a:xfrm>
          <a:prstGeom prst="roundRect">
            <a:avLst>
              <a:gd name="adj" fmla="val 2206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75320" y="1316736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275320" y="13167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乐观情景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8275320" y="173736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8732520" y="173736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9299448" y="173736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10085832" y="173736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10817352" y="173736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净利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8275320" y="19751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Y1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8732520" y="197510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9299448" y="1975104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76.1</a:t>
            </a: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10085832" y="197510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36.5</a:t>
            </a:r>
            <a:endParaRPr lang="en-US" sz="1050" dirty="0"/>
          </a:p>
        </p:txBody>
      </p:sp>
      <p:sp>
        <p:nvSpPr>
          <p:cNvPr id="65" name="Text 63"/>
          <p:cNvSpPr txBox="1"/>
          <p:nvPr/>
        </p:nvSpPr>
        <p:spPr>
          <a:xfrm>
            <a:off x="10817352" y="1975104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37.6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8275320" y="230428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Y2</a:t>
            </a:r>
            <a:endParaRPr lang="en-US" sz="1050" dirty="0"/>
          </a:p>
        </p:txBody>
      </p:sp>
      <p:sp>
        <p:nvSpPr>
          <p:cNvPr id="67" name="Text 65"/>
          <p:cNvSpPr txBox="1"/>
          <p:nvPr/>
        </p:nvSpPr>
        <p:spPr>
          <a:xfrm>
            <a:off x="8732520" y="230428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50" dirty="0"/>
          </a:p>
        </p:txBody>
      </p:sp>
      <p:sp>
        <p:nvSpPr>
          <p:cNvPr id="68" name="Text 66"/>
          <p:cNvSpPr txBox="1"/>
          <p:nvPr/>
        </p:nvSpPr>
        <p:spPr>
          <a:xfrm>
            <a:off x="9299448" y="2304288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375.2</a:t>
            </a:r>
            <a:endParaRPr lang="en-US" sz="1050" dirty="0"/>
          </a:p>
        </p:txBody>
      </p:sp>
      <p:sp>
        <p:nvSpPr>
          <p:cNvPr id="69" name="Text 67"/>
          <p:cNvSpPr txBox="1"/>
          <p:nvPr/>
        </p:nvSpPr>
        <p:spPr>
          <a:xfrm>
            <a:off x="10085832" y="23042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76.9</a:t>
            </a:r>
            <a:endParaRPr lang="en-US" sz="1050" dirty="0"/>
          </a:p>
        </p:txBody>
      </p:sp>
      <p:sp>
        <p:nvSpPr>
          <p:cNvPr id="70" name="Text 68"/>
          <p:cNvSpPr txBox="1"/>
          <p:nvPr/>
        </p:nvSpPr>
        <p:spPr>
          <a:xfrm>
            <a:off x="10817352" y="2304288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283.4</a:t>
            </a:r>
            <a:endParaRPr lang="en-US" sz="1100" dirty="0"/>
          </a:p>
        </p:txBody>
      </p:sp>
      <p:sp>
        <p:nvSpPr>
          <p:cNvPr id="71" name="Text 69"/>
          <p:cNvSpPr txBox="1"/>
          <p:nvPr/>
        </p:nvSpPr>
        <p:spPr>
          <a:xfrm>
            <a:off x="8275320" y="26334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Y3</a:t>
            </a:r>
            <a:endParaRPr lang="en-US" sz="1050" dirty="0"/>
          </a:p>
        </p:txBody>
      </p:sp>
      <p:sp>
        <p:nvSpPr>
          <p:cNvPr id="72" name="Text 70"/>
          <p:cNvSpPr txBox="1"/>
          <p:nvPr/>
        </p:nvSpPr>
        <p:spPr>
          <a:xfrm>
            <a:off x="8732520" y="263347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50" dirty="0"/>
          </a:p>
        </p:txBody>
      </p:sp>
      <p:sp>
        <p:nvSpPr>
          <p:cNvPr id="73" name="Text 71"/>
          <p:cNvSpPr txBox="1"/>
          <p:nvPr/>
        </p:nvSpPr>
        <p:spPr>
          <a:xfrm>
            <a:off x="9299448" y="2633472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699.7</a:t>
            </a:r>
            <a:endParaRPr lang="en-US" sz="1050" dirty="0"/>
          </a:p>
        </p:txBody>
      </p:sp>
      <p:sp>
        <p:nvSpPr>
          <p:cNvPr id="74" name="Text 72"/>
          <p:cNvSpPr txBox="1"/>
          <p:nvPr/>
        </p:nvSpPr>
        <p:spPr>
          <a:xfrm>
            <a:off x="10085832" y="26334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164.5</a:t>
            </a:r>
            <a:endParaRPr lang="en-US" sz="1050" dirty="0"/>
          </a:p>
        </p:txBody>
      </p:sp>
      <p:sp>
        <p:nvSpPr>
          <p:cNvPr id="75" name="Text 73"/>
          <p:cNvSpPr txBox="1"/>
          <p:nvPr/>
        </p:nvSpPr>
        <p:spPr>
          <a:xfrm>
            <a:off x="10817352" y="2633472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508.4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8275320" y="30358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生态推进顺利、单价站上 78 万、认证实施伙伴到位。第三年新增 12 个地市已触及外包交付上限。</a:t>
            </a:r>
            <a:endParaRPr lang="en-US" sz="900" dirty="0"/>
          </a:p>
        </p:txBody>
      </p:sp>
      <p:graphicFrame>
        <p:nvGraphicFramePr>
          <p:cNvPr id="77" name="Chart 0" descr=""/>
          <p:cNvGraphicFramePr/>
          <p:nvPr/>
        </p:nvGraphicFramePr>
        <p:xfrm>
          <a:off x="502920" y="3822192"/>
          <a:ext cx="5943600" cy="22128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8" name="Shape 75"/>
          <p:cNvSpPr/>
          <p:nvPr/>
        </p:nvSpPr>
        <p:spPr>
          <a:xfrm>
            <a:off x="6675120" y="3822192"/>
            <a:ext cx="5001768" cy="2212848"/>
          </a:xfrm>
          <a:prstGeom prst="roundRect">
            <a:avLst>
              <a:gd name="adj" fmla="val 2479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6876288" y="3950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这张表最容易被追问的三点，先答在这里</a:t>
            </a:r>
            <a:endParaRPr lang="en-US" sz="1250" dirty="0"/>
          </a:p>
        </p:txBody>
      </p:sp>
      <p:sp>
        <p:nvSpPr>
          <p:cNvPr id="80" name="Text 77"/>
          <p:cNvSpPr txBox="1"/>
          <p:nvPr/>
        </p:nvSpPr>
        <p:spPr>
          <a:xfrm>
            <a:off x="6876288" y="42611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　净利率为什么这么高？</a:t>
            </a:r>
            <a:endParaRPr lang="en-US" sz="1050" dirty="0"/>
          </a:p>
        </p:txBody>
      </p:sp>
      <p:sp>
        <p:nvSpPr>
          <p:cNvPr id="81" name="Text 78"/>
          <p:cNvSpPr txBox="1"/>
          <p:nvPr/>
        </p:nvSpPr>
        <p:spPr>
          <a:xfrm>
            <a:off x="6876288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因为算力成本在客户侧、无销售团队、无渠道自建。且创始人 15~36 万元的市场化薪酬已作为成本扣除，表中净利是真正可分配的利润。</a:t>
            </a:r>
            <a:endParaRPr lang="en-US" sz="950" dirty="0"/>
          </a:p>
        </p:txBody>
      </p:sp>
      <p:sp>
        <p:nvSpPr>
          <p:cNvPr id="82" name="Text 79"/>
          <p:cNvSpPr txBox="1"/>
          <p:nvPr/>
        </p:nvSpPr>
        <p:spPr>
          <a:xfrm>
            <a:off x="6876288" y="486460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　盈亏平衡点在哪？</a:t>
            </a:r>
            <a:endParaRPr lang="en-US" sz="1050" dirty="0"/>
          </a:p>
        </p:txBody>
      </p:sp>
      <p:sp>
        <p:nvSpPr>
          <p:cNvPr id="83" name="Text 80"/>
          <p:cNvSpPr txBox="1"/>
          <p:nvPr/>
        </p:nvSpPr>
        <p:spPr>
          <a:xfrm>
            <a:off x="6876288" y="50840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中性情景年固定成本加创始人薪酬 24 万元，单地市首年毛利贡献 29.8 万元 —— 每年 0.81 个正价客户即可打平。</a:t>
            </a:r>
            <a:endParaRPr lang="en-US" sz="950" dirty="0"/>
          </a:p>
        </p:txBody>
      </p:sp>
      <p:sp>
        <p:nvSpPr>
          <p:cNvPr id="84" name="Text 81"/>
          <p:cNvSpPr txBox="1"/>
          <p:nvPr/>
        </p:nvSpPr>
        <p:spPr>
          <a:xfrm>
            <a:off x="6876288" y="54681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　最敏感的变量是什么？</a:t>
            </a:r>
            <a:endParaRPr lang="en-US" sz="1050" dirty="0"/>
          </a:p>
        </p:txBody>
      </p:sp>
      <p:sp>
        <p:nvSpPr>
          <p:cNvPr id="85" name="Text 82"/>
          <p:cNvSpPr txBox="1"/>
          <p:nvPr/>
        </p:nvSpPr>
        <p:spPr>
          <a:xfrm>
            <a:off x="6876288" y="5687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客单价。第三年客单价每变动 30%，净利同向变动约 47%；新增地市数每变动 2 个，净利变动约 22%。定价能力比铺量速度更重要。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3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87552" y="329184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一人公司最可能死在哪里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778240" y="3840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把三条生死线摆在前面，而不是藏在附录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73968" cy="1481328"/>
          </a:xfrm>
          <a:prstGeom prst="roundRect">
            <a:avLst>
              <a:gd name="adj" fmla="val 3704"/>
            </a:avLst>
          </a:prstGeom>
          <a:solidFill>
            <a:srgbClr val="FDF1E3"/>
          </a:solidFill>
          <a:ln w="12700">
            <a:solidFill>
              <a:srgbClr val="F0D3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371600"/>
            <a:ext cx="1371600" cy="365760"/>
          </a:xfrm>
          <a:prstGeom prst="roundRect">
            <a:avLst>
              <a:gd name="adj" fmla="val 17500"/>
            </a:avLst>
          </a:prstGeom>
          <a:solidFill>
            <a:srgbClr val="DD7B14"/>
          </a:solidFill>
          <a:ln w="12700">
            <a:solidFill>
              <a:srgbClr val="DD7B1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371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现金流断裂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267712" y="133502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2267712" y="1554480"/>
            <a:ext cx="44805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4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政务项目从签约到回款普遍 6~12 个月，另有 10% 质保金押一年。中性情景下第一年现金支出 34 万元、实收约 12 万元，最大现金缺口约 22 万元。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967728" y="133502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967728" y="1554480"/>
            <a:ext cx="45171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4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只做二级供应商，与总包方背靠背签约；合同约定预付款不低于 30%；准备约 42 万元启动资金覆盖第一年缺口；不接需要垫资的总包单。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816352"/>
            <a:ext cx="11173968" cy="1481328"/>
          </a:xfrm>
          <a:prstGeom prst="roundRect">
            <a:avLst>
              <a:gd name="adj" fmla="val 3704"/>
            </a:avLst>
          </a:prstGeom>
          <a:solidFill>
            <a:srgbClr val="EAF1FD"/>
          </a:solidFill>
          <a:ln w="12700">
            <a:solidFill>
              <a:srgbClr val="BFD3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2999232"/>
            <a:ext cx="1371600" cy="365760"/>
          </a:xfrm>
          <a:prstGeom prst="roundRect">
            <a:avLst>
              <a:gd name="adj" fmla="val 17500"/>
            </a:avLst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9992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产能天花板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267712" y="29626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2267712" y="3182112"/>
            <a:ext cx="44805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4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 220 个工作日，扣除 45% 的研发与产品时间，可交付工日约 121 天；单地市实施约 18 人日 —— 自交付上限约 6.7 个地市/年。第三年计划新增 8 个已经超限。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967728" y="29626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967728" y="3182112"/>
            <a:ext cx="45171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4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第二年起建立认证实施伙伴机制，把知识库导入、联调与培训外包（约 6.5 万元/地市）；同时持续把实施人日从 18 天压到 12 天以内，产能靠标准化而非靠加班。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443984"/>
            <a:ext cx="11173968" cy="1481328"/>
          </a:xfrm>
          <a:prstGeom prst="roundRect">
            <a:avLst>
              <a:gd name="adj" fmla="val 3704"/>
            </a:avLst>
          </a:prstGeom>
          <a:solidFill>
            <a:srgbClr val="FDECEC"/>
          </a:solidFill>
          <a:ln w="12700">
            <a:solidFill>
              <a:srgbClr val="F6CFC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626864"/>
            <a:ext cx="1371600" cy="365760"/>
          </a:xfrm>
          <a:prstGeom prst="roundRect">
            <a:avLst>
              <a:gd name="adj" fmla="val 175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46268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单点依赖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267712" y="45902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267712" y="4809744"/>
            <a:ext cx="44805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4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核心代码、模型策略与客户关系全部集中在一个人身上；一旦生病、考试、服兵役或有其他不可抗力，交付即中断，客户信任随之瓦解。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967728" y="45902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6967728" y="4809744"/>
            <a:ext cx="45171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4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所有交付物文档化并版本化；与实施伙伴签订应急代维协议；核心知识库与配置交付客户一份可离线运行的完整副本，确保系统在公司缺位时仍可运转。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38251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补充：政策与机构改革风险已通过“权责清单与算法解耦、条目版本化与生效日期校验”在产品层面消化，详见技术可行性一页。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3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87552" y="329184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团队与既往战绩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778240" y="3840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一个人，但不是白手起家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52144"/>
            <a:ext cx="5394960" cy="3017520"/>
          </a:xfrm>
          <a:prstGeom prst="roundRect">
            <a:avLst>
              <a:gd name="adj" fmla="val 1818"/>
            </a:avLst>
          </a:prstGeom>
          <a:solidFill>
            <a:srgbClr val="EAF1FD"/>
          </a:solidFill>
          <a:ln w="12700">
            <a:solidFill>
              <a:srgbClr val="BFD3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280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孔伟康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12801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D4E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禾安团队　·　创始人 / 全栈实现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773936"/>
            <a:ext cx="1188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FE0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8288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33+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1214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竞赛奖项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11680" y="1773936"/>
            <a:ext cx="1188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FE0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11680" y="18288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年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1214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医疗研发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1773936"/>
            <a:ext cx="1188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FE0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91840" y="18288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30+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21214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数据咨询客户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1773936"/>
            <a:ext cx="1188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FE0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0" y="18288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10%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21214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研究生 GPA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25786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成都中医药大学　医学信息工程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277977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3D5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2023.08 – 2025.06　·　GPA 前 10%　·　研究方向：智能预问诊系统、人体稳态预测模型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0358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浙江大学宁波理工学院　电气工程及其自动化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323697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3D5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2018.09 – 2022.07　·　浙江省政府奖学金　·　大二起自学数据科学并取得数据科学认证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34930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产业与项目经历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369417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3D5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国家重大专项核心算法开发（代谢综合征心脑血管疾病疗效评价模型，负责功能态患者画像与稳态预测模型）；中国移动信息技术中心研发创新中心数字孪生研发实习；独立数据科学咨询 2020–2024，服务 30+ 硕博与企业客户。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81928" y="1152144"/>
            <a:ext cx="5394960" cy="3017520"/>
          </a:xfrm>
          <a:prstGeom prst="roundRect">
            <a:avLst>
              <a:gd name="adj" fmla="val 1818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10528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竞赛与荣誉（精选）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0" y="12801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 33+ 项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10528" y="1627632"/>
            <a:ext cx="4937760" cy="301752"/>
          </a:xfrm>
          <a:prstGeom prst="rect">
            <a:avLst/>
          </a:prstGeom>
          <a:solidFill>
            <a:srgbClr val="EAF1FD"/>
          </a:solidFill>
          <a:ln w="6350">
            <a:solidFill>
              <a:srgbClr val="EAEFF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01968" y="1627632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2021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7114032" y="1627632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XBOT PARK 智能 C 端主题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9875520" y="1627632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全国金奖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510528" y="1929384"/>
            <a:ext cx="4937760" cy="301752"/>
          </a:xfrm>
          <a:prstGeom prst="rect">
            <a:avLst/>
          </a:prstGeom>
          <a:solidFill>
            <a:srgbClr val="EAF1FD"/>
          </a:solidFill>
          <a:ln w="6350">
            <a:solidFill>
              <a:srgbClr val="EAEFF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601968" y="1929384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7114032" y="192938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CICC 语料数据智能创意大赛暨 MinerU 挑战赛 · 医疗组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9875520" y="1929384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三等奖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510528" y="2231136"/>
            <a:ext cx="4937760" cy="301752"/>
          </a:xfrm>
          <a:prstGeom prst="rect">
            <a:avLst/>
          </a:prstGeom>
          <a:solidFill>
            <a:srgbClr val="EAF1FD"/>
          </a:solidFill>
          <a:ln w="6350">
            <a:solidFill>
              <a:srgbClr val="EAEFF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01968" y="2231136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7114032" y="2231136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中国移动梧桐杯技术开发赛道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9875520" y="2231136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全国三等奖 / 江苏赛区第一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510528" y="2532888"/>
            <a:ext cx="4937760" cy="301752"/>
          </a:xfrm>
          <a:prstGeom prst="rect">
            <a:avLst/>
          </a:prstGeom>
          <a:solidFill>
            <a:srgbClr val="F7F9FC"/>
          </a:solidFill>
          <a:ln w="6350">
            <a:solidFill>
              <a:srgbClr val="EAEFF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601968" y="2532888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114032" y="25328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四川省大学生数据科学与统计建模竞赛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9875520" y="2532888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一等奖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510528" y="2834640"/>
            <a:ext cx="49377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601968" y="2834640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7114032" y="283464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动感地带 AI+ 高校创智计划 AI 技术赛道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9875520" y="2834640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赛区一等奖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510528" y="3136392"/>
            <a:ext cx="4937760" cy="301752"/>
          </a:xfrm>
          <a:prstGeom prst="rect">
            <a:avLst/>
          </a:prstGeom>
          <a:solidFill>
            <a:srgbClr val="F7F9FC"/>
          </a:solidFill>
          <a:ln w="6350">
            <a:solidFill>
              <a:srgbClr val="EAEFF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601968" y="3136392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7114032" y="3136392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AI 开发者大赛 · 编程测试用例生成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9875520" y="3136392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第二名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510528" y="3438144"/>
            <a:ext cx="49377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601968" y="3438144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7114032" y="343814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AI 开发者大赛 · 血管图像挑战赛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9875520" y="3438144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第二名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510528" y="3739896"/>
            <a:ext cx="4937760" cy="301752"/>
          </a:xfrm>
          <a:prstGeom prst="rect">
            <a:avLst/>
          </a:prstGeom>
          <a:solidFill>
            <a:srgbClr val="F7F9FC"/>
          </a:solidFill>
          <a:ln w="6350">
            <a:solidFill>
              <a:srgbClr val="EAEFF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601968" y="3739896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7114032" y="3739896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蚂蚁 HealthAI 健康挑战赛 / 全球数智教育创新大赛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9875520" y="3739896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优胜奖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02920" y="4352544"/>
            <a:ext cx="3602736" cy="1682496"/>
          </a:xfrm>
          <a:prstGeom prst="roundRect">
            <a:avLst>
              <a:gd name="adj" fmla="val 3261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04088" y="4480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学术成果与专利</a:t>
            </a:r>
            <a:endParaRPr lang="en-US" sz="1250" dirty="0"/>
          </a:p>
        </p:txBody>
      </p:sp>
      <p:sp>
        <p:nvSpPr>
          <p:cNvPr id="63" name="Text 61"/>
          <p:cNvSpPr txBox="1"/>
          <p:nvPr/>
        </p:nvSpPr>
        <p:spPr>
          <a:xfrm>
            <a:off x="704088" y="4791456"/>
            <a:ext cx="32004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发明专利《一种基于患者多模态信息的个体化健康评估方法及设备》CN 121506466 A；论文 CM Loss（CCBR 2021, EI 收录）、Knowledge Graph-Enhanced Long-Tail Learning for TCM Syndrome Differentiation（Chinese Medicine, Springer Nature）；另有 SCI 在投与多项专利在申。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288536" y="4352544"/>
            <a:ext cx="3602736" cy="1682496"/>
          </a:xfrm>
          <a:prstGeom prst="roundRect">
            <a:avLst>
              <a:gd name="adj" fmla="val 3261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489704" y="4480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专业资质</a:t>
            </a:r>
            <a:endParaRPr lang="en-US" sz="1250" dirty="0"/>
          </a:p>
        </p:txBody>
      </p:sp>
      <p:sp>
        <p:nvSpPr>
          <p:cNvPr id="66" name="Text 64"/>
          <p:cNvSpPr txBox="1"/>
          <p:nvPr/>
        </p:nvSpPr>
        <p:spPr>
          <a:xfrm>
            <a:off x="4489704" y="4791456"/>
            <a:ext cx="32004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CDA 三级数据科学家认证（持证人）；工信部认证大数据分析师（高级）；雅思 6.5。具备从算法研发到产品落地的全栈交付能力，以及面向政企客户的方案沟通经验。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074152" y="4352544"/>
            <a:ext cx="3602736" cy="1682496"/>
          </a:xfrm>
          <a:prstGeom prst="roundRect">
            <a:avLst>
              <a:gd name="adj" fmla="val 3261"/>
            </a:avLst>
          </a:prstGeom>
          <a:solidFill>
            <a:srgbClr val="FDF1E3"/>
          </a:solidFill>
          <a:ln w="12700">
            <a:solidFill>
              <a:srgbClr val="F0D3AC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275320" y="4480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D7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生态资源：已进入库帕思合作伙伴体系</a:t>
            </a:r>
            <a:endParaRPr lang="en-US" sz="1250" dirty="0"/>
          </a:p>
        </p:txBody>
      </p:sp>
      <p:sp>
        <p:nvSpPr>
          <p:cNvPr id="69" name="Text 67"/>
          <p:cNvSpPr txBox="1"/>
          <p:nvPr/>
        </p:nvSpPr>
        <p:spPr>
          <a:xfrm>
            <a:off x="8275320" y="4791456"/>
            <a:ext cx="32004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A54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 2026 CICC 语料数据智能创意大赛获奖资格进入上海库帕思科技合作伙伴体系，可获等值 5 万元语料资源、Kupas Camp / Kupas Master 工具与专项培训，以及项目共生、产业直联、语料风投 CVC 等生态支持。平台上 MIT 许可的《政务热线服务 AI 问答对训练数据集》（2500 条真实 12345 工单问答对，附市民满意度回访标签）可直接用于答复风格对齐与质量评测——这批非现金资源同时降低了首年的资金门槛与数据门槛。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3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87552" y="329184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技术内核并非从零开始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778240" y="3840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同一套可靠性方法，已在医疗循证问答上跑通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5214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MedRAG · 循证引擎 —— 医疗文献高质量知识库（RAG）构建系统，项目负责人（团队：禾安），获 2026 CICC 语料数据智能创意大赛暨 MinerU 数据智能与前沿语料挑战赛「场景攻坚·行业应用转化赛道—医疗组」三等奖，主办方上海库帕思科技有限公司、上海人工智能创新中心专家评审。它与本项目解决的是同一个问题：如何让模型在高风险场景下不臆造、可溯源、且敢于拒答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6675120" cy="365760"/>
          </a:xfrm>
          <a:prstGeom prst="rect">
            <a:avLst/>
          </a:prstGeom>
          <a:solidFill>
            <a:srgbClr val="0F3C86"/>
          </a:solidFill>
          <a:ln w="12700">
            <a:solidFill>
              <a:srgbClr val="0F3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" y="1572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MedRAG 中已验证的机制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977640" y="1572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在本项目中对应的能力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938528"/>
            <a:ext cx="6675120" cy="493776"/>
          </a:xfrm>
          <a:prstGeom prst="rect">
            <a:avLst/>
          </a:prstGeom>
          <a:solidFill>
            <a:srgbClr val="F7F9FC"/>
          </a:solidFill>
          <a:ln w="6350">
            <a:solidFill>
              <a:srgbClr val="EAEF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" y="1938528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语义级结构化切分 + 逐块「文献›章节›页码」溯源面包屑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712464" y="1938528"/>
            <a:ext cx="219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C2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1938528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政策法规与权责清单切片编号，条款级证据溯源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432304"/>
            <a:ext cx="66751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" y="2432304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 + 稀疏混合检索（RRF 融合）+ 交叉编码器专用重排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712464" y="2432304"/>
            <a:ext cx="219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C2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2432304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混合检索召回规则片段，按适用范围与时效过滤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926080"/>
            <a:ext cx="6675120" cy="493776"/>
          </a:xfrm>
          <a:prstGeom prst="rect">
            <a:avLst/>
          </a:prstGeom>
          <a:solidFill>
            <a:srgbClr val="F7F9FC"/>
          </a:solidFill>
          <a:ln w="6350">
            <a:solidFill>
              <a:srgbClr val="EAEF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" y="292608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逐句 [来源n] 引用，资料未覆盖时显式拒答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712464" y="2926080"/>
            <a:ext cx="219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C2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977640" y="2926080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四态裁决：信息不足与权责交叉时拒绝输出确定结论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419856"/>
            <a:ext cx="66751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" y="3419856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检索/生成表征解耦，修复视觉描述污染向量召回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712464" y="3419856"/>
            <a:ext cx="219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C2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977640" y="3419856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要素抽取与裁决使用不同表征，避免生成文本回灌检索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913632"/>
            <a:ext cx="6675120" cy="493776"/>
          </a:xfrm>
          <a:prstGeom prst="rect">
            <a:avLst/>
          </a:prstGeom>
          <a:solidFill>
            <a:srgbClr val="F7F9FC"/>
          </a:solidFill>
          <a:ln w="6350">
            <a:solidFill>
              <a:srgbClr val="EAEF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" y="3913632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按问题类型双模型路由 + 零温度抽取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712464" y="3913632"/>
            <a:ext cx="219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C2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977640" y="3913632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按事项类别与置信度路由到不同处理策略与人工阈值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52360" y="1572768"/>
            <a:ext cx="4224528" cy="2834640"/>
          </a:xfrm>
          <a:prstGeom prst="roundRect">
            <a:avLst>
              <a:gd name="adj" fmla="val 1935"/>
            </a:avLst>
          </a:prstGeom>
          <a:solidFill>
            <a:srgbClr val="E9F7F1"/>
          </a:solidFill>
          <a:ln w="12700">
            <a:solidFill>
              <a:srgbClr val="BFE6D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662672" y="17007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可复算的验证结果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662672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2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表格结构保真 TEDS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9966960" y="2011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6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0.147 → 0.990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662672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2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官方样例检索命中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9966960" y="22860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6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→ 5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662672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2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官方样例答案正确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9966960" y="25603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6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→ 5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7662672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2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纯表格类问题正确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9966960" y="2834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6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→ 2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662672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2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未见文献泛化验证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9966960" y="31089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6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篇零退化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662672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2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文献解析速度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9966960" y="33832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6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4 秒 / 页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7662672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2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新文献端到端入库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9966960" y="36576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6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15 秒 / 篇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7662672" y="396849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3E6B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对外只采用确定性、可复算指标；开放跨库检索类指标因受重排接口与小样本影响存在波动，未纳入对外口径。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502920" y="4572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产品路线图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502920" y="4937760"/>
            <a:ext cx="3602736" cy="1097280"/>
          </a:xfrm>
          <a:prstGeom prst="roundRect">
            <a:avLst>
              <a:gd name="adj" fmla="val 5000"/>
            </a:avLst>
          </a:prstGeom>
          <a:solidFill>
            <a:srgbClr val="FDF1E3"/>
          </a:solidFill>
          <a:ln w="12700">
            <a:solidFill>
              <a:srgbClr val="F0D3A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04088" y="5065776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DD7B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1527048" y="50657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全流程可运行版本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704088" y="537667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8A54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打通录音输入、要素抽取、工单生成、四态裁决、主协办推荐与答复生成，完成两类以上典型诉求的端到端验证。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288536" y="4937760"/>
            <a:ext cx="3602736" cy="109728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489704" y="5065776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5A64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5312664" y="50657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知识库工程化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4489704" y="537667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建成芜湖市政策法规与部门权责清单的结构化知识库，实现版本化、生效日期校验与后台自助导入。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074152" y="4937760"/>
            <a:ext cx="3602736" cy="109728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275320" y="5065776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5A64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远期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9098280" y="50657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可复制的标准组件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8275320" y="537667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封装为容器化标准 Agent 组件，形成实施手册与认证伙伴机制，把新地市上线周期压缩到两周以内。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-2011680" y="3108960"/>
            <a:ext cx="6583680" cy="6583680"/>
          </a:xfrm>
          <a:prstGeom prst="roundRect">
            <a:avLst>
              <a:gd name="adj" fmla="val 8333"/>
            </a:avLst>
          </a:prstGeom>
          <a:solidFill>
            <a:srgbClr val="1747A0"/>
          </a:solidFill>
          <a:ln w="12700">
            <a:solidFill>
              <a:srgbClr val="1747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80160" y="1828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600" kern="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最后一句话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233172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12345 不缺一个会写工单的模型，</a:t>
            </a:r>
            <a:endParaRPr lang="en-US" sz="33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缺的是一个敢被采纳的判断。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9319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我们把可靠性做成了工程：能判、能拒、能溯源，然后把最终决定权完整地交还给工作人员。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280160" y="4663440"/>
            <a:ext cx="2011680" cy="0"/>
          </a:xfrm>
          <a:prstGeom prst="line">
            <a:avLst/>
          </a:prstGeom>
          <a:noFill/>
          <a:ln w="19050">
            <a:solidFill>
              <a:srgbClr val="3A6F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4937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12345热线工单智能生成与精准转派全流程辅助 Agent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5285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8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禾安团队　·　成都中医药大学　孔伟康　·　2026 年 8 月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禾安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12345热线工单智能生成与精准转派全流程辅助 Agent · 商业计划书</dc:title>
  <dc:subject>PptxGenJS Presentation</dc:subject>
  <dc:creator>禾安团队</dc:creator>
  <cp:lastModifiedBy>禾安团队</cp:lastModifiedBy>
  <cp:revision>1</cp:revision>
  <dcterms:created xsi:type="dcterms:W3CDTF">2026-08-27T14:22:43Z</dcterms:created>
  <dcterms:modified xsi:type="dcterms:W3CDTF">2026-08-27T14:22:43Z</dcterms:modified>
</cp:coreProperties>
</file>