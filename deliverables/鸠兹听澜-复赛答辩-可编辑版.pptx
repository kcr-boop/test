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aa3710eb-059c-bd86-a39c-a746393b9d8f}">
          <p14:sldIdLst>
            <p14:sldId id="256"/>
          </p14:sldIdLst>
        </p14:section>
        <p14:section name="问题与方案" id="{3e085613-09cd-d8b8-297c-d8432589d146}">
          <p14:sldIdLst>
            <p14:sldId id="257"/>
            <p14:sldId id="258"/>
          </p14:sldIdLst>
        </p14:section>
        <p14:section name="技术亮点" id="{7b8dae82-51db-a8d9-6a11-4aa7c69e0cbb}">
          <p14:sldIdLst>
            <p14:sldId id="259"/>
            <p14:sldId id="260"/>
            <p14:sldId id="261"/>
          </p14:sldIdLst>
        </p14:section>
        <p14:section name="演示与效果" id="{92b2f87e-5c6b-4f0e-c212-3d12ec3622db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 秒】各位评委好，我是禾安团队的孔伟康。我们的作品叫「鸠兹听澜」，鸠兹是芜湖的古称，它是给 12345 热线工作人员用的工单研判助手。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【28 秒】先看问题。12345 从来电到回访，前五步都靠人边听、边记、边判。赛题归纳了四个卡点，官方样例里都有实证：一通电话夹着三件事，整理慢；同一类诉求口径不一，分类靠经验；有答复写“不属物业，也不属供水公司”，转派推诿；还有答复把《安徽省城镇燃气管理条例》少写了“安徽省”，依据不准。所以赛题划了一条红线：智能体只给建议，派单和答复必须由人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【28 秒】我们就沿着这条红线来做。四个必选任务一个不少，中间设两道人工卡点，每一步交给工作人员的，都是可以核对的建议：要素附群众原话，理由挂法规编号。最核心的设计是，先回答“这单能不能判”，再回答“判给谁”，给出四种状态。因为政务场景最怕的，是证据不足时，系统还给出一个看起来很合理的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 秒】实现上是一个主智能体加四个子智能体。主智能体先脱敏、判属地，再由 JEV 做意图路由：新诉求走理解和研判，办理结果走答复和质检，政策咨询查条款库，紧急求助立即提示转 110、119、120。分工只有一句话：大模型理解起草，代码核对裁决，人最终确认。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 秒】为什么路由用 JEV？大模型是“系统二”，擅长写；JEV 是“系统一”，不写字，直接返回带概率的判断。我们实测，JEV 中位数 707 毫秒，通用大模型要 5.8 秒。概率经过校准，复核概率超过 0.5，就把“可裁决”降为“建议复核”，只会更保守，不会更激进。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【22 秒】赛题把精准引用政策法规列为核心加分项。我们取了 86 部现行法规的官方原文，按“条”切成 6127 块，每次引用都要过四道代码校验：编号存在、逐字一致、现行有效、理由可回指。为什么这么严？建库时我们发现，四部环保法今年 8 月已被《生态环境法典》替代，再引旧法，就是引用失效依据。下面请看真实运行。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 秒】这是真实运行录屏，约四分二十秒，视频自带配音和字幕。
（切换到视频《禾安-鸠兹听澜-演示视频-专业版.mp4》播放，视频期间不讲话。视频约 4 分 20 秒。）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【28 秒】视频里的结论，我们用 18 件官方工单做了实测。最看重的是漏拦：需要人工的 15 件全部拦住，漏拦为零。四态准确率 78%，4 件错判全部偏保守；主办单位命中率 83%，引用全部通过代码校验。对一线人员，审核不用回听录音，转派依据一目了然。按中型地市年 50 万件、每件省 5 分钟测算，一年约节省 4.2 万工时。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【18 秒】落地上，先在芜湖做样板，再作为政务云的标准组件复制到长三角；法规每年都在变，知识库维护本身就是持续价值。回到视频的最后一句话：12345 不缺一个会写工单的模型，缺的是一个敢被采纳的判断。谢谢各位评委！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1695" cy="9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页面标题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副标题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">
    <p:bg>
      <p:bgPr>
        <a:solidFill>
          <a:srgbClr val="0B2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页面标题</a:t>
            </a:r>
            <a:endParaRPr lang="en-US" sz="3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2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6596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6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水波环1"/>
          <p:cNvSpPr/>
          <p:nvPr/>
        </p:nvSpPr>
        <p:spPr>
          <a:xfrm>
            <a:off x="7498080" y="4206240"/>
            <a:ext cx="6583680" cy="6583680"/>
          </a:xfrm>
          <a:prstGeom prst="ellipse">
            <a:avLst/>
          </a:prstGeom>
          <a:solidFill>
            <a:srgbClr val="FFFFFF">
              <a:alpha val="0"/>
            </a:srgbClr>
          </a:solidFill>
          <a:ln w="1778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水波环2"/>
          <p:cNvSpPr/>
          <p:nvPr/>
        </p:nvSpPr>
        <p:spPr>
          <a:xfrm>
            <a:off x="8595360" y="5120640"/>
            <a:ext cx="4754880" cy="4754880"/>
          </a:xfrm>
          <a:prstGeom prst="ellipse">
            <a:avLst/>
          </a:prstGeom>
          <a:solidFill>
            <a:srgbClr val="FFFFFF">
              <a:alpha val="0"/>
            </a:srgbClr>
          </a:solidFill>
          <a:ln w="1778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徽标圈"/>
          <p:cNvSpPr/>
          <p:nvPr/>
        </p:nvSpPr>
        <p:spPr>
          <a:xfrm>
            <a:off x="548640" y="82296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5" name="徽标符号"/>
          <p:cNvSpPr txBox="1"/>
          <p:nvPr/>
        </p:nvSpPr>
        <p:spPr>
          <a:xfrm>
            <a:off x="548640" y="822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≈</a:t>
            </a:r>
            <a:endParaRPr lang="en-US" sz="3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965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鸠兹听澜</a:t>
            </a:r>
            <a:endParaRPr lang="en-US" sz="6600" dirty="0"/>
          </a:p>
        </p:txBody>
      </p:sp>
      <p:sp>
        <p:nvSpPr>
          <p:cNvPr id="7" name="副标题"/>
          <p:cNvSpPr txBox="1"/>
          <p:nvPr/>
        </p:nvSpPr>
        <p:spPr>
          <a:xfrm>
            <a:off x="54864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12345 热线工单研判助手</a:t>
            </a:r>
            <a:endParaRPr lang="en-US" sz="2600" dirty="0"/>
          </a:p>
        </p:txBody>
      </p:sp>
      <p:sp>
        <p:nvSpPr>
          <p:cNvPr id="8" name="副标题2"/>
          <p:cNvSpPr txBox="1"/>
          <p:nvPr/>
        </p:nvSpPr>
        <p:spPr>
          <a:xfrm>
            <a:off x="548640" y="3749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A"/>
                </a:solidFill>
              </a:rPr>
              <a:t>智能生成与精准转派全流程辅助智能体</a:t>
            </a:r>
            <a:endParaRPr lang="en-US" sz="1600" dirty="0"/>
          </a:p>
        </p:txBody>
      </p:sp>
      <p:sp>
        <p:nvSpPr>
          <p:cNvPr id="9" name="口号底"/>
          <p:cNvSpPr/>
          <p:nvPr/>
        </p:nvSpPr>
        <p:spPr>
          <a:xfrm>
            <a:off x="548640" y="4526280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口号"/>
          <p:cNvSpPr txBox="1"/>
          <p:nvPr/>
        </p:nvSpPr>
        <p:spPr>
          <a:xfrm>
            <a:off x="548640" y="45262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不是派得更准，而是知道自己什么时候不准</a:t>
            </a:r>
            <a:endParaRPr lang="en-US" sz="1700" dirty="0"/>
          </a:p>
        </p:txBody>
      </p:sp>
      <p:sp>
        <p:nvSpPr>
          <p:cNvPr id="11" name="答辩信息"/>
          <p:cNvSpPr txBox="1"/>
          <p:nvPr/>
        </p:nvSpPr>
        <p:spPr>
          <a:xfrm>
            <a:off x="548640" y="5989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A"/>
                </a:solidFill>
              </a:rPr>
              <a:t>复赛答辩 · 禾安团队 · 孔伟康</a:t>
            </a:r>
            <a:endParaRPr lang="en-US" sz="1300" dirty="0"/>
          </a:p>
        </p:txBody>
      </p:sp>
      <p:sp>
        <p:nvSpPr>
          <p:cNvPr id="12" name="日期"/>
          <p:cNvSpPr txBox="1"/>
          <p:nvPr/>
        </p:nvSpPr>
        <p:spPr>
          <a:xfrm>
            <a:off x="548640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A"/>
                </a:solidFill>
              </a:rPr>
              <a:t>2026 年 10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签底"/>
          <p:cNvSpPr/>
          <p:nvPr/>
        </p:nvSpPr>
        <p:spPr>
          <a:xfrm>
            <a:off x="548640" y="347472"/>
            <a:ext cx="15544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章节标签"/>
          <p:cNvSpPr txBox="1"/>
          <p:nvPr/>
        </p:nvSpPr>
        <p:spPr>
          <a:xfrm>
            <a:off x="548640" y="3474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一 · 从赛题出发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热线人员每天「边听、边记、边判」，卡在四处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赛题标准流程六步，前五步都靠人在中间扛</a:t>
            </a:r>
            <a:endParaRPr lang="en-US" sz="1400" dirty="0"/>
          </a:p>
        </p:txBody>
      </p:sp>
      <p:sp>
        <p:nvSpPr>
          <p:cNvPr id="6" name="流程步骤1底"/>
          <p:cNvSpPr/>
          <p:nvPr/>
        </p:nvSpPr>
        <p:spPr>
          <a:xfrm>
            <a:off x="548640" y="1965960"/>
            <a:ext cx="1627632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7" name="流程步骤1"/>
          <p:cNvSpPr txBox="1"/>
          <p:nvPr/>
        </p:nvSpPr>
        <p:spPr>
          <a:xfrm>
            <a:off x="548640" y="1965960"/>
            <a:ext cx="1627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群众来电</a:t>
            </a:r>
            <a:endParaRPr lang="en-US" sz="1300" dirty="0"/>
          </a:p>
        </p:txBody>
      </p:sp>
      <p:sp>
        <p:nvSpPr>
          <p:cNvPr id="8" name="流程步骤2底"/>
          <p:cNvSpPr/>
          <p:nvPr/>
        </p:nvSpPr>
        <p:spPr>
          <a:xfrm>
            <a:off x="2441997" y="1965960"/>
            <a:ext cx="1627632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9" name="流程步骤2"/>
          <p:cNvSpPr txBox="1"/>
          <p:nvPr/>
        </p:nvSpPr>
        <p:spPr>
          <a:xfrm>
            <a:off x="2441997" y="1965960"/>
            <a:ext cx="1627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受理录入</a:t>
            </a:r>
            <a:endParaRPr lang="en-US" sz="1300" dirty="0"/>
          </a:p>
        </p:txBody>
      </p:sp>
      <p:sp>
        <p:nvSpPr>
          <p:cNvPr id="10" name="流程步骤3底"/>
          <p:cNvSpPr/>
          <p:nvPr/>
        </p:nvSpPr>
        <p:spPr>
          <a:xfrm>
            <a:off x="4335353" y="1965960"/>
            <a:ext cx="1627632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11" name="流程步骤3"/>
          <p:cNvSpPr txBox="1"/>
          <p:nvPr/>
        </p:nvSpPr>
        <p:spPr>
          <a:xfrm>
            <a:off x="4335353" y="1965960"/>
            <a:ext cx="1627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生成工单</a:t>
            </a:r>
            <a:endParaRPr lang="en-US" sz="1300" dirty="0"/>
          </a:p>
        </p:txBody>
      </p:sp>
      <p:sp>
        <p:nvSpPr>
          <p:cNvPr id="12" name="流程步骤4底"/>
          <p:cNvSpPr/>
          <p:nvPr/>
        </p:nvSpPr>
        <p:spPr>
          <a:xfrm>
            <a:off x="6228710" y="1965960"/>
            <a:ext cx="1627632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13" name="流程步骤4"/>
          <p:cNvSpPr txBox="1"/>
          <p:nvPr/>
        </p:nvSpPr>
        <p:spPr>
          <a:xfrm>
            <a:off x="6228710" y="1965960"/>
            <a:ext cx="1627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分流转派</a:t>
            </a:r>
            <a:endParaRPr lang="en-US" sz="1300" dirty="0"/>
          </a:p>
        </p:txBody>
      </p:sp>
      <p:sp>
        <p:nvSpPr>
          <p:cNvPr id="14" name="流程步骤5底"/>
          <p:cNvSpPr/>
          <p:nvPr/>
        </p:nvSpPr>
        <p:spPr>
          <a:xfrm>
            <a:off x="8122067" y="1965960"/>
            <a:ext cx="1627632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15" name="流程步骤5"/>
          <p:cNvSpPr txBox="1"/>
          <p:nvPr/>
        </p:nvSpPr>
        <p:spPr>
          <a:xfrm>
            <a:off x="8122067" y="1965960"/>
            <a:ext cx="1627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部门答复</a:t>
            </a:r>
            <a:endParaRPr lang="en-US" sz="1300" dirty="0"/>
          </a:p>
        </p:txBody>
      </p:sp>
      <p:sp>
        <p:nvSpPr>
          <p:cNvPr id="16" name="流程步骤6底"/>
          <p:cNvSpPr/>
          <p:nvPr/>
        </p:nvSpPr>
        <p:spPr>
          <a:xfrm>
            <a:off x="10015423" y="1965960"/>
            <a:ext cx="1627632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17" name="流程步骤6"/>
          <p:cNvSpPr txBox="1"/>
          <p:nvPr/>
        </p:nvSpPr>
        <p:spPr>
          <a:xfrm>
            <a:off x="10015423" y="1965960"/>
            <a:ext cx="1627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质检回访</a:t>
            </a:r>
            <a:endParaRPr lang="en-US" sz="1300" dirty="0"/>
          </a:p>
        </p:txBody>
      </p:sp>
      <p:sp>
        <p:nvSpPr>
          <p:cNvPr id="18" name="痛点卡1"/>
          <p:cNvSpPr/>
          <p:nvPr/>
        </p:nvSpPr>
        <p:spPr>
          <a:xfrm>
            <a:off x="548640" y="2743200"/>
            <a:ext cx="2567864" cy="28346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19" name="序号底"/>
          <p:cNvSpPr/>
          <p:nvPr/>
        </p:nvSpPr>
        <p:spPr>
          <a:xfrm>
            <a:off x="777240" y="29718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序号"/>
          <p:cNvSpPr txBox="1"/>
          <p:nvPr/>
        </p:nvSpPr>
        <p:spPr>
          <a:xfrm>
            <a:off x="7772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痛点标题1"/>
          <p:cNvSpPr txBox="1"/>
          <p:nvPr/>
        </p:nvSpPr>
        <p:spPr>
          <a:xfrm>
            <a:off x="1261872" y="2926080"/>
            <a:ext cx="174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工单整理慢</a:t>
            </a:r>
            <a:endParaRPr lang="en-US" sz="2000" dirty="0"/>
          </a:p>
        </p:txBody>
      </p:sp>
      <p:sp>
        <p:nvSpPr>
          <p:cNvPr id="22" name="痛点描述1"/>
          <p:cNvSpPr txBox="1"/>
          <p:nvPr/>
        </p:nvSpPr>
        <p:spPr>
          <a:xfrm>
            <a:off x="777240" y="35204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口语碎片化，边听边记易漏错</a:t>
            </a:r>
            <a:endParaRPr lang="en-US" sz="1500" dirty="0"/>
          </a:p>
        </p:txBody>
      </p:sp>
      <p:sp>
        <p:nvSpPr>
          <p:cNvPr id="23" name="分隔虚线"/>
          <p:cNvSpPr/>
          <p:nvPr/>
        </p:nvSpPr>
        <p:spPr>
          <a:xfrm>
            <a:off x="777240" y="4389120"/>
            <a:ext cx="2110664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dash"/>
          </a:ln>
        </p:spPr>
      </p:sp>
      <p:sp>
        <p:nvSpPr>
          <p:cNvPr id="24" name="官方样例1"/>
          <p:cNvSpPr txBox="1"/>
          <p:nvPr/>
        </p:nvSpPr>
        <p:spPr>
          <a:xfrm>
            <a:off x="777240" y="4480560"/>
            <a:ext cx="2110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官方样例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一通来电同时有占道经营、设施损毁、非法营运三件事</a:t>
            </a:r>
            <a:endParaRPr lang="en-US" sz="1300" dirty="0"/>
          </a:p>
        </p:txBody>
      </p:sp>
      <p:sp>
        <p:nvSpPr>
          <p:cNvPr id="25" name="痛点卡2"/>
          <p:cNvSpPr/>
          <p:nvPr/>
        </p:nvSpPr>
        <p:spPr>
          <a:xfrm>
            <a:off x="3390824" y="2743200"/>
            <a:ext cx="2567864" cy="28346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26" name="序号底"/>
          <p:cNvSpPr/>
          <p:nvPr/>
        </p:nvSpPr>
        <p:spPr>
          <a:xfrm>
            <a:off x="3619424" y="29718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序号"/>
          <p:cNvSpPr txBox="1"/>
          <p:nvPr/>
        </p:nvSpPr>
        <p:spPr>
          <a:xfrm>
            <a:off x="3619424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痛点标题2"/>
          <p:cNvSpPr txBox="1"/>
          <p:nvPr/>
        </p:nvSpPr>
        <p:spPr>
          <a:xfrm>
            <a:off x="4104056" y="2926080"/>
            <a:ext cx="174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分类靠经验</a:t>
            </a:r>
            <a:endParaRPr lang="en-US" sz="2000" dirty="0"/>
          </a:p>
        </p:txBody>
      </p:sp>
      <p:sp>
        <p:nvSpPr>
          <p:cNvPr id="29" name="痛点描述2"/>
          <p:cNvSpPr txBox="1"/>
          <p:nvPr/>
        </p:nvSpPr>
        <p:spPr>
          <a:xfrm>
            <a:off x="3619424" y="35204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权责清单交叉，判断有主观偏差</a:t>
            </a:r>
            <a:endParaRPr lang="en-US" sz="1500" dirty="0"/>
          </a:p>
        </p:txBody>
      </p:sp>
      <p:sp>
        <p:nvSpPr>
          <p:cNvPr id="30" name="分隔虚线"/>
          <p:cNvSpPr/>
          <p:nvPr/>
        </p:nvSpPr>
        <p:spPr>
          <a:xfrm>
            <a:off x="3619424" y="4389120"/>
            <a:ext cx="2110664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dash"/>
          </a:ln>
        </p:spPr>
      </p:sp>
      <p:sp>
        <p:nvSpPr>
          <p:cNvPr id="31" name="官方样例2"/>
          <p:cNvSpPr txBox="1"/>
          <p:nvPr/>
        </p:nvSpPr>
        <p:spPr>
          <a:xfrm>
            <a:off x="3619424" y="4480560"/>
            <a:ext cx="2110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官方样例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同一「燃气」诉求，在供应、安全、价格上口径不同</a:t>
            </a:r>
            <a:endParaRPr lang="en-US" sz="1300" dirty="0"/>
          </a:p>
        </p:txBody>
      </p:sp>
      <p:sp>
        <p:nvSpPr>
          <p:cNvPr id="32" name="痛点卡3"/>
          <p:cNvSpPr/>
          <p:nvPr/>
        </p:nvSpPr>
        <p:spPr>
          <a:xfrm>
            <a:off x="6233008" y="2743200"/>
            <a:ext cx="2567864" cy="28346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33" name="序号底"/>
          <p:cNvSpPr/>
          <p:nvPr/>
        </p:nvSpPr>
        <p:spPr>
          <a:xfrm>
            <a:off x="6461608" y="29718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序号"/>
          <p:cNvSpPr txBox="1"/>
          <p:nvPr/>
        </p:nvSpPr>
        <p:spPr>
          <a:xfrm>
            <a:off x="646160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痛点标题3"/>
          <p:cNvSpPr txBox="1"/>
          <p:nvPr/>
        </p:nvSpPr>
        <p:spPr>
          <a:xfrm>
            <a:off x="6946240" y="2926080"/>
            <a:ext cx="174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转派易推诿</a:t>
            </a:r>
            <a:endParaRPr lang="en-US" sz="2000" dirty="0"/>
          </a:p>
        </p:txBody>
      </p:sp>
      <p:sp>
        <p:nvSpPr>
          <p:cNvPr id="36" name="痛点描述3"/>
          <p:cNvSpPr txBox="1"/>
          <p:nvPr/>
        </p:nvSpPr>
        <p:spPr>
          <a:xfrm>
            <a:off x="6461608" y="35204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条块分割，二次退单普遍</a:t>
            </a:r>
            <a:endParaRPr lang="en-US" sz="1500" dirty="0"/>
          </a:p>
        </p:txBody>
      </p:sp>
      <p:sp>
        <p:nvSpPr>
          <p:cNvPr id="37" name="分隔虚线"/>
          <p:cNvSpPr/>
          <p:nvPr/>
        </p:nvSpPr>
        <p:spPr>
          <a:xfrm>
            <a:off x="6461608" y="4389120"/>
            <a:ext cx="2110664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dash"/>
          </a:ln>
        </p:spPr>
      </p:sp>
      <p:sp>
        <p:nvSpPr>
          <p:cNvPr id="38" name="官方样例3"/>
          <p:cNvSpPr txBox="1"/>
          <p:nvPr/>
        </p:nvSpPr>
        <p:spPr>
          <a:xfrm>
            <a:off x="6461608" y="4480560"/>
            <a:ext cx="2110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官方样例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答复原文：「不属物业管理，也不属供水公司管理」</a:t>
            </a:r>
            <a:endParaRPr lang="en-US" sz="1300" dirty="0"/>
          </a:p>
        </p:txBody>
      </p:sp>
      <p:sp>
        <p:nvSpPr>
          <p:cNvPr id="39" name="痛点卡4"/>
          <p:cNvSpPr/>
          <p:nvPr/>
        </p:nvSpPr>
        <p:spPr>
          <a:xfrm>
            <a:off x="9075191" y="2743200"/>
            <a:ext cx="2567864" cy="28346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40" name="序号底"/>
          <p:cNvSpPr/>
          <p:nvPr/>
        </p:nvSpPr>
        <p:spPr>
          <a:xfrm>
            <a:off x="9303791" y="297180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1" name="序号"/>
          <p:cNvSpPr txBox="1"/>
          <p:nvPr/>
        </p:nvSpPr>
        <p:spPr>
          <a:xfrm>
            <a:off x="9303791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2" name="痛点标题4"/>
          <p:cNvSpPr txBox="1"/>
          <p:nvPr/>
        </p:nvSpPr>
        <p:spPr>
          <a:xfrm>
            <a:off x="9788423" y="2926080"/>
            <a:ext cx="174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依据不精准</a:t>
            </a:r>
            <a:endParaRPr lang="en-US" sz="2000" dirty="0"/>
          </a:p>
        </p:txBody>
      </p:sp>
      <p:sp>
        <p:nvSpPr>
          <p:cNvPr id="43" name="痛点描述4"/>
          <p:cNvSpPr txBox="1"/>
          <p:nvPr/>
        </p:nvSpPr>
        <p:spPr>
          <a:xfrm>
            <a:off x="9303791" y="35204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话术参差，政策引用不准</a:t>
            </a:r>
            <a:endParaRPr lang="en-US" sz="1500" dirty="0"/>
          </a:p>
        </p:txBody>
      </p:sp>
      <p:sp>
        <p:nvSpPr>
          <p:cNvPr id="44" name="分隔虚线"/>
          <p:cNvSpPr/>
          <p:nvPr/>
        </p:nvSpPr>
        <p:spPr>
          <a:xfrm>
            <a:off x="9303791" y="4389120"/>
            <a:ext cx="2110664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dash"/>
          </a:ln>
        </p:spPr>
      </p:sp>
      <p:sp>
        <p:nvSpPr>
          <p:cNvPr id="45" name="官方样例4"/>
          <p:cNvSpPr txBox="1"/>
          <p:nvPr/>
        </p:nvSpPr>
        <p:spPr>
          <a:xfrm>
            <a:off x="9303791" y="4480560"/>
            <a:ext cx="2110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官方样例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把《安徽省城镇燃气管理条例》写成《城镇燃气管理条例》</a:t>
            </a:r>
            <a:endParaRPr lang="en-US" sz="1300" dirty="0"/>
          </a:p>
        </p:txBody>
      </p:sp>
      <p:sp>
        <p:nvSpPr>
          <p:cNvPr id="46" name="红线底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20690"/>
            </a:avLst>
          </a:prstGeom>
          <a:solidFill>
            <a:srgbClr val="FDECEC"/>
          </a:solidFill>
          <a:ln w="12700">
            <a:solidFill>
              <a:srgbClr val="E8A5A5"/>
            </a:solidFill>
            <a:prstDash val="solid"/>
          </a:ln>
        </p:spPr>
      </p:sp>
      <p:sp>
        <p:nvSpPr>
          <p:cNvPr id="47" name="红线文字"/>
          <p:cNvSpPr txBox="1"/>
          <p:nvPr/>
        </p:nvSpPr>
        <p:spPr>
          <a:xfrm>
            <a:off x="822960" y="5760720"/>
            <a:ext cx="105457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赛题红线  </a:t>
            </a:r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智能体只给建议；派单和答复，必须由工作人员确认</a:t>
            </a:r>
            <a:endParaRPr lang="en-US" sz="1600" dirty="0"/>
          </a:p>
        </p:txBody>
      </p:sp>
      <p:sp>
        <p:nvSpPr>
          <p:cNvPr id="48" name="来源说明"/>
          <p:cNvSpPr txBox="1"/>
          <p:nvPr/>
        </p:nvSpPr>
        <p:spPr>
          <a:xfrm>
            <a:off x="548640" y="6400800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来源：赛题说明 · 大赛官方示例工单（已脱敏）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签底"/>
          <p:cNvSpPr/>
          <p:nvPr/>
        </p:nvSpPr>
        <p:spPr>
          <a:xfrm>
            <a:off x="548640" y="347472"/>
            <a:ext cx="17830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章节标签"/>
          <p:cNvSpPr txBox="1"/>
          <p:nvPr/>
        </p:nvSpPr>
        <p:spPr>
          <a:xfrm>
            <a:off x="548640" y="34747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二 · 我们做了什么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沿赛题闭环，做一个敢说「我判不了」的助手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四个必选任务一个不少，中间设两道人工卡点</a:t>
            </a:r>
            <a:endParaRPr lang="en-US" sz="1400" dirty="0"/>
          </a:p>
        </p:txBody>
      </p:sp>
      <p:sp>
        <p:nvSpPr>
          <p:cNvPr id="6" name="闭环步骤1底"/>
          <p:cNvSpPr/>
          <p:nvPr/>
        </p:nvSpPr>
        <p:spPr>
          <a:xfrm>
            <a:off x="548640" y="1965960"/>
            <a:ext cx="1389888" cy="868680"/>
          </a:xfrm>
          <a:prstGeom prst="roundRect">
            <a:avLst>
              <a:gd name="adj" fmla="val 10526"/>
            </a:avLst>
          </a:prstGeom>
          <a:solidFill>
            <a:srgbClr val="F5F7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7" name="闭环步骤1"/>
          <p:cNvSpPr txBox="1"/>
          <p:nvPr/>
        </p:nvSpPr>
        <p:spPr>
          <a:xfrm>
            <a:off x="548640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录音 / 文本</a:t>
            </a:r>
            <a:endParaRPr lang="en-US" sz="1200" dirty="0"/>
          </a:p>
        </p:txBody>
      </p:sp>
      <p:sp>
        <p:nvSpPr>
          <p:cNvPr id="8" name="闭环步骤2底"/>
          <p:cNvSpPr/>
          <p:nvPr/>
        </p:nvSpPr>
        <p:spPr>
          <a:xfrm>
            <a:off x="2166061" y="1965960"/>
            <a:ext cx="138988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9" name="闭环步骤2"/>
          <p:cNvSpPr txBox="1"/>
          <p:nvPr/>
        </p:nvSpPr>
        <p:spPr>
          <a:xfrm>
            <a:off x="2166061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任务一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诉求理解·要素提取</a:t>
            </a:r>
            <a:endParaRPr lang="en-US" sz="1200" dirty="0"/>
          </a:p>
        </p:txBody>
      </p:sp>
      <p:sp>
        <p:nvSpPr>
          <p:cNvPr id="10" name="闭环步骤3底"/>
          <p:cNvSpPr/>
          <p:nvPr/>
        </p:nvSpPr>
        <p:spPr>
          <a:xfrm>
            <a:off x="3783482" y="1965960"/>
            <a:ext cx="138988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11" name="闭环步骤3"/>
          <p:cNvSpPr txBox="1"/>
          <p:nvPr/>
        </p:nvSpPr>
        <p:spPr>
          <a:xfrm>
            <a:off x="3783482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任务二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标准化工单</a:t>
            </a:r>
            <a:endParaRPr lang="en-US" sz="1200" dirty="0"/>
          </a:p>
        </p:txBody>
      </p:sp>
      <p:sp>
        <p:nvSpPr>
          <p:cNvPr id="12" name="闭环步骤4底"/>
          <p:cNvSpPr/>
          <p:nvPr/>
        </p:nvSpPr>
        <p:spPr>
          <a:xfrm>
            <a:off x="5400904" y="1965960"/>
            <a:ext cx="138988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13" name="闭环步骤4"/>
          <p:cNvSpPr txBox="1"/>
          <p:nvPr/>
        </p:nvSpPr>
        <p:spPr>
          <a:xfrm>
            <a:off x="5400904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任务三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分类·主协办·归因</a:t>
            </a:r>
            <a:endParaRPr lang="en-US" sz="1200" dirty="0"/>
          </a:p>
        </p:txBody>
      </p:sp>
      <p:sp>
        <p:nvSpPr>
          <p:cNvPr id="14" name="闭环步骤5底"/>
          <p:cNvSpPr/>
          <p:nvPr/>
        </p:nvSpPr>
        <p:spPr>
          <a:xfrm>
            <a:off x="7018325" y="1965960"/>
            <a:ext cx="1389888" cy="868680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2700">
            <a:solidFill>
              <a:srgbClr val="E8A5A5"/>
            </a:solidFill>
            <a:prstDash val="solid"/>
          </a:ln>
        </p:spPr>
      </p:sp>
      <p:sp>
        <p:nvSpPr>
          <p:cNvPr id="15" name="闭环步骤5"/>
          <p:cNvSpPr txBox="1"/>
          <p:nvPr/>
        </p:nvSpPr>
        <p:spPr>
          <a:xfrm>
            <a:off x="7018325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人工卡点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确认 / 改派 / 退回</a:t>
            </a:r>
            <a:endParaRPr lang="en-US" sz="1200" dirty="0"/>
          </a:p>
        </p:txBody>
      </p:sp>
      <p:sp>
        <p:nvSpPr>
          <p:cNvPr id="16" name="闭环步骤6底"/>
          <p:cNvSpPr/>
          <p:nvPr/>
        </p:nvSpPr>
        <p:spPr>
          <a:xfrm>
            <a:off x="8635746" y="1965960"/>
            <a:ext cx="138988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17" name="闭环步骤6"/>
          <p:cNvSpPr txBox="1"/>
          <p:nvPr/>
        </p:nvSpPr>
        <p:spPr>
          <a:xfrm>
            <a:off x="8635746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任务四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预回复·回访话术</a:t>
            </a:r>
            <a:endParaRPr lang="en-US" sz="1200" dirty="0"/>
          </a:p>
        </p:txBody>
      </p:sp>
      <p:sp>
        <p:nvSpPr>
          <p:cNvPr id="18" name="闭环步骤7底"/>
          <p:cNvSpPr/>
          <p:nvPr/>
        </p:nvSpPr>
        <p:spPr>
          <a:xfrm>
            <a:off x="10253167" y="1965960"/>
            <a:ext cx="1389888" cy="868680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2700">
            <a:solidFill>
              <a:srgbClr val="E8A5A5"/>
            </a:solidFill>
            <a:prstDash val="solid"/>
          </a:ln>
        </p:spPr>
      </p:sp>
      <p:sp>
        <p:nvSpPr>
          <p:cNvPr id="19" name="闭环步骤7"/>
          <p:cNvSpPr txBox="1"/>
          <p:nvPr/>
        </p:nvSpPr>
        <p:spPr>
          <a:xfrm>
            <a:off x="10253167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人工卡点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复核发出</a:t>
            </a:r>
            <a:endParaRPr lang="en-US" sz="1200" dirty="0"/>
          </a:p>
        </p:txBody>
      </p:sp>
      <p:sp>
        <p:nvSpPr>
          <p:cNvPr id="20" name="左卡片"/>
          <p:cNvSpPr/>
          <p:nvPr/>
        </p:nvSpPr>
        <p:spPr>
          <a:xfrm>
            <a:off x="548640" y="3108960"/>
            <a:ext cx="475488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21" name="左标题"/>
          <p:cNvSpPr txBox="1"/>
          <p:nvPr/>
        </p:nvSpPr>
        <p:spPr>
          <a:xfrm>
            <a:off x="82296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每一步，交给人的都是「可核对」的建议</a:t>
            </a:r>
            <a:endParaRPr lang="en-US" sz="1800" dirty="0"/>
          </a:p>
        </p:txBody>
      </p:sp>
      <p:sp>
        <p:nvSpPr>
          <p:cNvPr id="22" name="左要点"/>
          <p:cNvSpPr txBox="1"/>
          <p:nvPr/>
        </p:nvSpPr>
        <p:spPr>
          <a:xfrm>
            <a:off x="822960" y="38862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要素逐项附</a:t>
            </a:r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群众原话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主办 + 协办，</a:t>
            </a:r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每条理由挂法规编号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答复只引已校验条款，发出前过</a:t>
            </a:r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六条质检红线</a:t>
            </a:r>
            <a:endParaRPr lang="en-US" sz="1600" dirty="0"/>
          </a:p>
        </p:txBody>
      </p:sp>
      <p:sp>
        <p:nvSpPr>
          <p:cNvPr id="23" name="右卡片"/>
          <p:cNvSpPr/>
          <p:nvPr/>
        </p:nvSpPr>
        <p:spPr>
          <a:xfrm>
            <a:off x="5577840" y="3108960"/>
            <a:ext cx="6065215" cy="3154680"/>
          </a:xfrm>
          <a:prstGeom prst="roundRect">
            <a:avLst>
              <a:gd name="adj" fmla="val 3478"/>
            </a:avLst>
          </a:prstGeom>
          <a:solidFill>
            <a:srgbClr val="F5F8FF"/>
          </a:solidFill>
          <a:ln w="12700">
            <a:solidFill>
              <a:srgbClr val="9DB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24" name="右标题"/>
          <p:cNvSpPr txBox="1"/>
          <p:nvPr/>
        </p:nvSpPr>
        <p:spPr>
          <a:xfrm>
            <a:off x="5852160" y="3246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核心设计：先答「能不能判」，再答「判给谁」</a:t>
            </a:r>
            <a:endParaRPr lang="en-US" sz="1800" dirty="0"/>
          </a:p>
        </p:txBody>
      </p:sp>
      <p:sp>
        <p:nvSpPr>
          <p:cNvPr id="25" name="状态1底"/>
          <p:cNvSpPr/>
          <p:nvPr/>
        </p:nvSpPr>
        <p:spPr>
          <a:xfrm>
            <a:off x="5852160" y="3931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DFF3E9"/>
          </a:solidFill>
          <a:ln w="12700">
            <a:solidFill>
              <a:srgbClr val="DFF3E9"/>
            </a:solidFill>
            <a:prstDash val="solid"/>
          </a:ln>
        </p:spPr>
      </p:sp>
      <p:sp>
        <p:nvSpPr>
          <p:cNvPr id="26" name="状态1"/>
          <p:cNvSpPr txBox="1"/>
          <p:nvPr/>
        </p:nvSpPr>
        <p:spPr>
          <a:xfrm>
            <a:off x="5852160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8A5B"/>
                </a:solidFill>
              </a:rPr>
              <a:t>可裁决</a:t>
            </a:r>
            <a:endParaRPr lang="en-US" sz="1300" dirty="0"/>
          </a:p>
        </p:txBody>
      </p:sp>
      <p:sp>
        <p:nvSpPr>
          <p:cNvPr id="27" name="状态说明1"/>
          <p:cNvSpPr txBox="1"/>
          <p:nvPr/>
        </p:nvSpPr>
        <p:spPr>
          <a:xfrm>
            <a:off x="736092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主体唯一、要素齐备、依据可校验 → 给出建议</a:t>
            </a:r>
            <a:endParaRPr lang="en-US" sz="1400" dirty="0"/>
          </a:p>
        </p:txBody>
      </p:sp>
      <p:sp>
        <p:nvSpPr>
          <p:cNvPr id="28" name="状态2底"/>
          <p:cNvSpPr/>
          <p:nvPr/>
        </p:nvSpPr>
        <p:spPr>
          <a:xfrm>
            <a:off x="5852160" y="44805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DEFD9"/>
          </a:solidFill>
          <a:ln w="12700">
            <a:solidFill>
              <a:srgbClr val="FDEFD9"/>
            </a:solidFill>
            <a:prstDash val="solid"/>
          </a:ln>
        </p:spPr>
      </p:sp>
      <p:sp>
        <p:nvSpPr>
          <p:cNvPr id="29" name="状态2"/>
          <p:cNvSpPr txBox="1"/>
          <p:nvPr/>
        </p:nvSpPr>
        <p:spPr>
          <a:xfrm>
            <a:off x="5852160" y="4480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需人工定责</a:t>
            </a:r>
            <a:endParaRPr lang="en-US" sz="1300" dirty="0"/>
          </a:p>
        </p:txBody>
      </p:sp>
      <p:sp>
        <p:nvSpPr>
          <p:cNvPr id="30" name="状态说明2"/>
          <p:cNvSpPr txBox="1"/>
          <p:nvPr/>
        </p:nvSpPr>
        <p:spPr>
          <a:xfrm>
            <a:off x="736092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职责交叉、需现场定性 → 把冲突点摆出来</a:t>
            </a:r>
            <a:endParaRPr lang="en-US" sz="1400" dirty="0"/>
          </a:p>
        </p:txBody>
      </p:sp>
      <p:sp>
        <p:nvSpPr>
          <p:cNvPr id="31" name="状态3底"/>
          <p:cNvSpPr/>
          <p:nvPr/>
        </p:nvSpPr>
        <p:spPr>
          <a:xfrm>
            <a:off x="5852160" y="502920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CE8FB"/>
          </a:solidFill>
          <a:ln w="12700">
            <a:solidFill>
              <a:srgbClr val="ECE8FB"/>
            </a:solidFill>
            <a:prstDash val="solid"/>
          </a:ln>
        </p:spPr>
      </p:sp>
      <p:sp>
        <p:nvSpPr>
          <p:cNvPr id="32" name="状态3"/>
          <p:cNvSpPr txBox="1"/>
          <p:nvPr/>
        </p:nvSpPr>
        <p:spPr>
          <a:xfrm>
            <a:off x="5852160" y="5029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FD6"/>
                </a:solidFill>
              </a:rPr>
              <a:t>要素不足</a:t>
            </a:r>
            <a:endParaRPr lang="en-US" sz="1300" dirty="0"/>
          </a:p>
        </p:txBody>
      </p:sp>
      <p:sp>
        <p:nvSpPr>
          <p:cNvPr id="33" name="状态说明3"/>
          <p:cNvSpPr txBox="1"/>
          <p:nvPr/>
        </p:nvSpPr>
        <p:spPr>
          <a:xfrm>
            <a:off x="7360920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缺关键要素 → 不派单，生成追问话术</a:t>
            </a:r>
            <a:endParaRPr lang="en-US" sz="1400" dirty="0"/>
          </a:p>
        </p:txBody>
      </p:sp>
      <p:sp>
        <p:nvSpPr>
          <p:cNvPr id="34" name="状态4底"/>
          <p:cNvSpPr/>
          <p:nvPr/>
        </p:nvSpPr>
        <p:spPr>
          <a:xfrm>
            <a:off x="5852160" y="557784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 w="12700">
            <a:solidFill>
              <a:srgbClr val="ECEFF4"/>
            </a:solidFill>
            <a:prstDash val="solid"/>
          </a:ln>
        </p:spPr>
      </p:sp>
      <p:sp>
        <p:nvSpPr>
          <p:cNvPr id="35" name="状态4"/>
          <p:cNvSpPr txBox="1"/>
          <p:nvPr/>
        </p:nvSpPr>
        <p:spPr>
          <a:xfrm>
            <a:off x="5852160" y="55778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B7A"/>
                </a:solidFill>
              </a:rPr>
              <a:t>不属受理</a:t>
            </a:r>
            <a:endParaRPr lang="en-US" sz="1300" dirty="0"/>
          </a:p>
        </p:txBody>
      </p:sp>
      <p:sp>
        <p:nvSpPr>
          <p:cNvPr id="36" name="状态说明4"/>
          <p:cNvSpPr txBox="1"/>
          <p:nvPr/>
        </p:nvSpPr>
        <p:spPr>
          <a:xfrm>
            <a:off x="7360920" y="5577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诉讼、仲裁、民事纠纷 → 告知法定途径</a:t>
            </a:r>
            <a:endParaRPr lang="en-US" sz="1400" dirty="0"/>
          </a:p>
        </p:txBody>
      </p:sp>
      <p:sp>
        <p:nvSpPr>
          <p:cNvPr id="37" name="来源说明"/>
          <p:cNvSpPr txBox="1"/>
          <p:nvPr/>
        </p:nvSpPr>
        <p:spPr>
          <a:xfrm>
            <a:off x="548640" y="6400800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赛题四大必选任务全部实现 · 两道人工卡点 · 系统不具备对外发送能力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签底"/>
          <p:cNvSpPr/>
          <p:nvPr/>
        </p:nvSpPr>
        <p:spPr>
          <a:xfrm>
            <a:off x="548640" y="347472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章节标签"/>
          <p:cNvSpPr txBox="1"/>
          <p:nvPr/>
        </p:nvSpPr>
        <p:spPr>
          <a:xfrm>
            <a:off x="548640" y="347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三 · 怎么做到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大模型写，代码裁，人来定：1 + 4 智能体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主智能体做意图分流，四个子智能体各司其职</a:t>
            </a:r>
            <a:endParaRPr lang="en-US" sz="1400" dirty="0"/>
          </a:p>
        </p:txBody>
      </p:sp>
      <p:sp>
        <p:nvSpPr>
          <p:cNvPr id="6" name="输入底"/>
          <p:cNvSpPr/>
          <p:nvPr/>
        </p:nvSpPr>
        <p:spPr>
          <a:xfrm>
            <a:off x="548640" y="1920240"/>
            <a:ext cx="3383280" cy="548640"/>
          </a:xfrm>
          <a:prstGeom prst="roundRect">
            <a:avLst>
              <a:gd name="adj" fmla="val 16667"/>
            </a:avLst>
          </a:prstGeom>
          <a:solidFill>
            <a:srgbClr val="F5F7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7" name="输入"/>
          <p:cNvSpPr txBox="1"/>
          <p:nvPr/>
        </p:nvSpPr>
        <p:spPr>
          <a:xfrm>
            <a:off x="54864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输入  来电录音 · 文本 · 办理反馈</a:t>
            </a:r>
            <a:endParaRPr lang="en-US" sz="1300" dirty="0"/>
          </a:p>
        </p:txBody>
      </p:sp>
      <p:sp>
        <p:nvSpPr>
          <p:cNvPr id="8" name="主智能体底"/>
          <p:cNvSpPr/>
          <p:nvPr/>
        </p:nvSpPr>
        <p:spPr>
          <a:xfrm>
            <a:off x="4206240" y="1920240"/>
            <a:ext cx="37490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rgbClr val="B9CBE6"/>
            </a:solidFill>
            <a:prstDash val="solid"/>
          </a:ln>
        </p:spPr>
      </p:sp>
      <p:sp>
        <p:nvSpPr>
          <p:cNvPr id="9" name="主智能体"/>
          <p:cNvSpPr txBox="1"/>
          <p:nvPr/>
        </p:nvSpPr>
        <p:spPr>
          <a:xfrm>
            <a:off x="420624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主智能体  脱敏 · 属地判定 · 工单上下文</a:t>
            </a:r>
            <a:endParaRPr lang="en-US" sz="1300" dirty="0"/>
          </a:p>
        </p:txBody>
      </p:sp>
      <p:sp>
        <p:nvSpPr>
          <p:cNvPr id="10" name="JEV路由底"/>
          <p:cNvSpPr/>
          <p:nvPr/>
        </p:nvSpPr>
        <p:spPr>
          <a:xfrm>
            <a:off x="8229600" y="1920240"/>
            <a:ext cx="3413455" cy="548640"/>
          </a:xfrm>
          <a:prstGeom prst="roundRect">
            <a:avLst>
              <a:gd name="adj" fmla="val 16667"/>
            </a:avLst>
          </a:prstGeom>
          <a:solidFill>
            <a:srgbClr val="FDEFE6"/>
          </a:solidFill>
          <a:ln w="12700">
            <a:solidFill>
              <a:srgbClr val="F2B999"/>
            </a:solidFill>
            <a:prstDash val="solid"/>
          </a:ln>
        </p:spPr>
      </p:sp>
      <p:sp>
        <p:nvSpPr>
          <p:cNvPr id="11" name="JEV路由"/>
          <p:cNvSpPr txBox="1"/>
          <p:nvPr/>
        </p:nvSpPr>
        <p:spPr>
          <a:xfrm>
            <a:off x="8229600" y="1920240"/>
            <a:ext cx="341345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JEV 意图路由  意图 · 复核概率 · 紧急度</a:t>
            </a:r>
            <a:endParaRPr lang="en-US" sz="1300" dirty="0"/>
          </a:p>
        </p:txBody>
      </p:sp>
      <p:sp>
        <p:nvSpPr>
          <p:cNvPr id="12" name="路由列1"/>
          <p:cNvSpPr/>
          <p:nvPr/>
        </p:nvSpPr>
        <p:spPr>
          <a:xfrm>
            <a:off x="548640" y="2697480"/>
            <a:ext cx="2072579" cy="2697480"/>
          </a:xfrm>
          <a:prstGeom prst="roundRect">
            <a:avLst>
              <a:gd name="adj" fmla="val 4412"/>
            </a:avLst>
          </a:prstGeom>
          <a:solidFill>
            <a:srgbClr val="FFF6F0"/>
          </a:solidFill>
          <a:ln w="12700">
            <a:solidFill>
              <a:srgbClr val="F2C9B3"/>
            </a:solidFill>
            <a:prstDash val="solid"/>
          </a:ln>
        </p:spPr>
      </p:sp>
      <p:sp>
        <p:nvSpPr>
          <p:cNvPr id="13" name="路由头底1"/>
          <p:cNvSpPr/>
          <p:nvPr/>
        </p:nvSpPr>
        <p:spPr>
          <a:xfrm>
            <a:off x="640080" y="2788920"/>
            <a:ext cx="1889699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路由头1"/>
          <p:cNvSpPr txBox="1"/>
          <p:nvPr/>
        </p:nvSpPr>
        <p:spPr>
          <a:xfrm>
            <a:off x="640080" y="2788920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新诉求受理</a:t>
            </a:r>
            <a:endParaRPr lang="en-US" sz="1300" dirty="0"/>
          </a:p>
        </p:txBody>
      </p:sp>
      <p:sp>
        <p:nvSpPr>
          <p:cNvPr id="15" name="路由步骤底"/>
          <p:cNvSpPr/>
          <p:nvPr/>
        </p:nvSpPr>
        <p:spPr>
          <a:xfrm>
            <a:off x="640080" y="3291840"/>
            <a:ext cx="1889699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6" name="路由步骤1-1"/>
          <p:cNvSpPr txBox="1"/>
          <p:nvPr/>
        </p:nvSpPr>
        <p:spPr>
          <a:xfrm>
            <a:off x="658368" y="3291840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诉求理解智能体</a:t>
            </a:r>
            <a:endParaRPr lang="en-US" sz="1250" dirty="0"/>
          </a:p>
        </p:txBody>
      </p:sp>
      <p:sp>
        <p:nvSpPr>
          <p:cNvPr id="17" name="路由步骤底"/>
          <p:cNvSpPr/>
          <p:nvPr/>
        </p:nvSpPr>
        <p:spPr>
          <a:xfrm>
            <a:off x="640080" y="4005072"/>
            <a:ext cx="1889699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8" name="路由步骤1-2"/>
          <p:cNvSpPr txBox="1"/>
          <p:nvPr/>
        </p:nvSpPr>
        <p:spPr>
          <a:xfrm>
            <a:off x="658368" y="4005072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研判派单智能体</a:t>
            </a:r>
            <a:endParaRPr lang="en-US" sz="1250" dirty="0"/>
          </a:p>
        </p:txBody>
      </p:sp>
      <p:sp>
        <p:nvSpPr>
          <p:cNvPr id="19" name="路由末步底"/>
          <p:cNvSpPr/>
          <p:nvPr/>
        </p:nvSpPr>
        <p:spPr>
          <a:xfrm>
            <a:off x="640080" y="4727448"/>
            <a:ext cx="1889699" cy="566928"/>
          </a:xfrm>
          <a:prstGeom prst="roundRect">
            <a:avLst>
              <a:gd name="adj" fmla="val 19355"/>
            </a:avLst>
          </a:prstGeom>
          <a:solidFill>
            <a:srgbClr val="FDECEC"/>
          </a:solidFill>
          <a:ln w="12700">
            <a:solidFill>
              <a:srgbClr val="E8A5A5"/>
            </a:solidFill>
            <a:prstDash val="solid"/>
          </a:ln>
        </p:spPr>
      </p:sp>
      <p:sp>
        <p:nvSpPr>
          <p:cNvPr id="20" name="路由末步1"/>
          <p:cNvSpPr txBox="1"/>
          <p:nvPr/>
        </p:nvSpPr>
        <p:spPr>
          <a:xfrm>
            <a:off x="658368" y="4727448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人工卡点 · 确认派单</a:t>
            </a:r>
            <a:endParaRPr lang="en-US" sz="1250" dirty="0"/>
          </a:p>
        </p:txBody>
      </p:sp>
      <p:sp>
        <p:nvSpPr>
          <p:cNvPr id="21" name="路由列2"/>
          <p:cNvSpPr/>
          <p:nvPr/>
        </p:nvSpPr>
        <p:spPr>
          <a:xfrm>
            <a:off x="2804099" y="2697480"/>
            <a:ext cx="2072579" cy="2697480"/>
          </a:xfrm>
          <a:prstGeom prst="roundRect">
            <a:avLst>
              <a:gd name="adj" fmla="val 4412"/>
            </a:avLst>
          </a:prstGeom>
          <a:solidFill>
            <a:srgbClr val="FFF6F0"/>
          </a:solidFill>
          <a:ln w="12700">
            <a:solidFill>
              <a:srgbClr val="F2C9B3"/>
            </a:solidFill>
            <a:prstDash val="solid"/>
          </a:ln>
        </p:spPr>
      </p:sp>
      <p:sp>
        <p:nvSpPr>
          <p:cNvPr id="22" name="路由头底2"/>
          <p:cNvSpPr/>
          <p:nvPr/>
        </p:nvSpPr>
        <p:spPr>
          <a:xfrm>
            <a:off x="2895539" y="2788920"/>
            <a:ext cx="1889699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路由头2"/>
          <p:cNvSpPr txBox="1"/>
          <p:nvPr/>
        </p:nvSpPr>
        <p:spPr>
          <a:xfrm>
            <a:off x="2895539" y="2788920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补充信息</a:t>
            </a:r>
            <a:endParaRPr lang="en-US" sz="1300" dirty="0"/>
          </a:p>
        </p:txBody>
      </p:sp>
      <p:sp>
        <p:nvSpPr>
          <p:cNvPr id="24" name="路由步骤底"/>
          <p:cNvSpPr/>
          <p:nvPr/>
        </p:nvSpPr>
        <p:spPr>
          <a:xfrm>
            <a:off x="2895539" y="3291840"/>
            <a:ext cx="1889699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5" name="路由步骤2-1"/>
          <p:cNvSpPr txBox="1"/>
          <p:nvPr/>
        </p:nvSpPr>
        <p:spPr>
          <a:xfrm>
            <a:off x="2913827" y="3291840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合并进当前工单</a:t>
            </a:r>
            <a:endParaRPr lang="en-US" sz="1250" dirty="0"/>
          </a:p>
        </p:txBody>
      </p:sp>
      <p:sp>
        <p:nvSpPr>
          <p:cNvPr id="26" name="路由步骤底"/>
          <p:cNvSpPr/>
          <p:nvPr/>
        </p:nvSpPr>
        <p:spPr>
          <a:xfrm>
            <a:off x="2895539" y="4005072"/>
            <a:ext cx="1889699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7" name="路由步骤2-2"/>
          <p:cNvSpPr txBox="1"/>
          <p:nvPr/>
        </p:nvSpPr>
        <p:spPr>
          <a:xfrm>
            <a:off x="2913827" y="4005072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重算要素 · 重新研判</a:t>
            </a:r>
            <a:endParaRPr lang="en-US" sz="1250" dirty="0"/>
          </a:p>
        </p:txBody>
      </p:sp>
      <p:sp>
        <p:nvSpPr>
          <p:cNvPr id="28" name="路由末步底"/>
          <p:cNvSpPr/>
          <p:nvPr/>
        </p:nvSpPr>
        <p:spPr>
          <a:xfrm>
            <a:off x="2895539" y="4727448"/>
            <a:ext cx="1889699" cy="566928"/>
          </a:xfrm>
          <a:prstGeom prst="roundRect">
            <a:avLst>
              <a:gd name="adj" fmla="val 19355"/>
            </a:avLst>
          </a:prstGeom>
          <a:solidFill>
            <a:srgbClr val="F5F7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9" name="路由末步2"/>
          <p:cNvSpPr txBox="1"/>
          <p:nvPr/>
        </p:nvSpPr>
        <p:spPr>
          <a:xfrm>
            <a:off x="2913827" y="4727448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重新研判</a:t>
            </a:r>
            <a:endParaRPr lang="en-US" sz="1250" dirty="0"/>
          </a:p>
        </p:txBody>
      </p:sp>
      <p:sp>
        <p:nvSpPr>
          <p:cNvPr id="30" name="路由列3"/>
          <p:cNvSpPr/>
          <p:nvPr/>
        </p:nvSpPr>
        <p:spPr>
          <a:xfrm>
            <a:off x="5059558" y="2697480"/>
            <a:ext cx="2072579" cy="2697480"/>
          </a:xfrm>
          <a:prstGeom prst="roundRect">
            <a:avLst>
              <a:gd name="adj" fmla="val 4412"/>
            </a:avLst>
          </a:prstGeom>
          <a:solidFill>
            <a:srgbClr val="FFF6F0"/>
          </a:solidFill>
          <a:ln w="12700">
            <a:solidFill>
              <a:srgbClr val="F2C9B3"/>
            </a:solidFill>
            <a:prstDash val="solid"/>
          </a:ln>
        </p:spPr>
      </p:sp>
      <p:sp>
        <p:nvSpPr>
          <p:cNvPr id="31" name="路由头底3"/>
          <p:cNvSpPr/>
          <p:nvPr/>
        </p:nvSpPr>
        <p:spPr>
          <a:xfrm>
            <a:off x="5150998" y="2788920"/>
            <a:ext cx="1889699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路由头3"/>
          <p:cNvSpPr txBox="1"/>
          <p:nvPr/>
        </p:nvSpPr>
        <p:spPr>
          <a:xfrm>
            <a:off x="5150998" y="2788920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办理结果录入</a:t>
            </a:r>
            <a:endParaRPr lang="en-US" sz="1300" dirty="0"/>
          </a:p>
        </p:txBody>
      </p:sp>
      <p:sp>
        <p:nvSpPr>
          <p:cNvPr id="33" name="路由步骤底"/>
          <p:cNvSpPr/>
          <p:nvPr/>
        </p:nvSpPr>
        <p:spPr>
          <a:xfrm>
            <a:off x="5150998" y="3291840"/>
            <a:ext cx="1889699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4" name="路由步骤3-1"/>
          <p:cNvSpPr txBox="1"/>
          <p:nvPr/>
        </p:nvSpPr>
        <p:spPr>
          <a:xfrm>
            <a:off x="5169286" y="3291840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答复生成智能体</a:t>
            </a:r>
            <a:endParaRPr lang="en-US" sz="1250" dirty="0"/>
          </a:p>
        </p:txBody>
      </p:sp>
      <p:sp>
        <p:nvSpPr>
          <p:cNvPr id="35" name="路由步骤底"/>
          <p:cNvSpPr/>
          <p:nvPr/>
        </p:nvSpPr>
        <p:spPr>
          <a:xfrm>
            <a:off x="5150998" y="4005072"/>
            <a:ext cx="1889699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6" name="路由步骤3-2"/>
          <p:cNvSpPr txBox="1"/>
          <p:nvPr/>
        </p:nvSpPr>
        <p:spPr>
          <a:xfrm>
            <a:off x="5169286" y="4005072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质检智能体</a:t>
            </a:r>
            <a:endParaRPr lang="en-US" sz="1250" dirty="0"/>
          </a:p>
        </p:txBody>
      </p:sp>
      <p:sp>
        <p:nvSpPr>
          <p:cNvPr id="37" name="路由末步底"/>
          <p:cNvSpPr/>
          <p:nvPr/>
        </p:nvSpPr>
        <p:spPr>
          <a:xfrm>
            <a:off x="5150998" y="4727448"/>
            <a:ext cx="1889699" cy="566928"/>
          </a:xfrm>
          <a:prstGeom prst="roundRect">
            <a:avLst>
              <a:gd name="adj" fmla="val 19355"/>
            </a:avLst>
          </a:prstGeom>
          <a:solidFill>
            <a:srgbClr val="FDECEC"/>
          </a:solidFill>
          <a:ln w="12700">
            <a:solidFill>
              <a:srgbClr val="E8A5A5"/>
            </a:solidFill>
            <a:prstDash val="solid"/>
          </a:ln>
        </p:spPr>
      </p:sp>
      <p:sp>
        <p:nvSpPr>
          <p:cNvPr id="38" name="路由末步3"/>
          <p:cNvSpPr txBox="1"/>
          <p:nvPr/>
        </p:nvSpPr>
        <p:spPr>
          <a:xfrm>
            <a:off x="5169286" y="4727448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人工卡点 · 复核发出</a:t>
            </a:r>
            <a:endParaRPr lang="en-US" sz="1250" dirty="0"/>
          </a:p>
        </p:txBody>
      </p:sp>
      <p:sp>
        <p:nvSpPr>
          <p:cNvPr id="39" name="路由列4"/>
          <p:cNvSpPr/>
          <p:nvPr/>
        </p:nvSpPr>
        <p:spPr>
          <a:xfrm>
            <a:off x="7315017" y="2697480"/>
            <a:ext cx="2072579" cy="2697480"/>
          </a:xfrm>
          <a:prstGeom prst="roundRect">
            <a:avLst>
              <a:gd name="adj" fmla="val 4412"/>
            </a:avLst>
          </a:prstGeom>
          <a:solidFill>
            <a:srgbClr val="FFF6F0"/>
          </a:solidFill>
          <a:ln w="12700">
            <a:solidFill>
              <a:srgbClr val="F2C9B3"/>
            </a:solidFill>
            <a:prstDash val="solid"/>
          </a:ln>
        </p:spPr>
      </p:sp>
      <p:sp>
        <p:nvSpPr>
          <p:cNvPr id="40" name="路由头底4"/>
          <p:cNvSpPr/>
          <p:nvPr/>
        </p:nvSpPr>
        <p:spPr>
          <a:xfrm>
            <a:off x="7406457" y="2788920"/>
            <a:ext cx="1889699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路由头4"/>
          <p:cNvSpPr txBox="1"/>
          <p:nvPr/>
        </p:nvSpPr>
        <p:spPr>
          <a:xfrm>
            <a:off x="7406457" y="2788920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政策咨询</a:t>
            </a:r>
            <a:endParaRPr lang="en-US" sz="1300" dirty="0"/>
          </a:p>
        </p:txBody>
      </p:sp>
      <p:sp>
        <p:nvSpPr>
          <p:cNvPr id="42" name="路由步骤底"/>
          <p:cNvSpPr/>
          <p:nvPr/>
        </p:nvSpPr>
        <p:spPr>
          <a:xfrm>
            <a:off x="7406457" y="3291840"/>
            <a:ext cx="1889699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43" name="路由步骤4-1"/>
          <p:cNvSpPr txBox="1"/>
          <p:nvPr/>
        </p:nvSpPr>
        <p:spPr>
          <a:xfrm>
            <a:off x="7424745" y="3291840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检索条款库</a:t>
            </a:r>
            <a:endParaRPr lang="en-US" sz="1250" dirty="0"/>
          </a:p>
        </p:txBody>
      </p:sp>
      <p:sp>
        <p:nvSpPr>
          <p:cNvPr id="44" name="路由步骤底"/>
          <p:cNvSpPr/>
          <p:nvPr/>
        </p:nvSpPr>
        <p:spPr>
          <a:xfrm>
            <a:off x="7406457" y="4005072"/>
            <a:ext cx="1889699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45" name="路由步骤4-2"/>
          <p:cNvSpPr txBox="1"/>
          <p:nvPr/>
        </p:nvSpPr>
        <p:spPr>
          <a:xfrm>
            <a:off x="7424745" y="4005072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引用校验</a:t>
            </a:r>
            <a:endParaRPr lang="en-US" sz="1250" dirty="0"/>
          </a:p>
        </p:txBody>
      </p:sp>
      <p:sp>
        <p:nvSpPr>
          <p:cNvPr id="46" name="路由末步底"/>
          <p:cNvSpPr/>
          <p:nvPr/>
        </p:nvSpPr>
        <p:spPr>
          <a:xfrm>
            <a:off x="7406457" y="4727448"/>
            <a:ext cx="1889699" cy="566928"/>
          </a:xfrm>
          <a:prstGeom prst="roundRect">
            <a:avLst>
              <a:gd name="adj" fmla="val 19355"/>
            </a:avLst>
          </a:prstGeom>
          <a:solidFill>
            <a:srgbClr val="F5F7FB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47" name="路由末步4"/>
          <p:cNvSpPr txBox="1"/>
          <p:nvPr/>
        </p:nvSpPr>
        <p:spPr>
          <a:xfrm>
            <a:off x="7424745" y="4727448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答复建议（不派单）</a:t>
            </a:r>
            <a:endParaRPr lang="en-US" sz="1250" dirty="0"/>
          </a:p>
        </p:txBody>
      </p:sp>
      <p:sp>
        <p:nvSpPr>
          <p:cNvPr id="48" name="路由列5"/>
          <p:cNvSpPr/>
          <p:nvPr/>
        </p:nvSpPr>
        <p:spPr>
          <a:xfrm>
            <a:off x="9570476" y="2697480"/>
            <a:ext cx="2072579" cy="2697480"/>
          </a:xfrm>
          <a:prstGeom prst="roundRect">
            <a:avLst>
              <a:gd name="adj" fmla="val 4412"/>
            </a:avLst>
          </a:prstGeom>
          <a:solidFill>
            <a:srgbClr val="FFF6F0"/>
          </a:solidFill>
          <a:ln w="12700">
            <a:solidFill>
              <a:srgbClr val="F2C9B3"/>
            </a:solidFill>
            <a:prstDash val="solid"/>
          </a:ln>
        </p:spPr>
      </p:sp>
      <p:sp>
        <p:nvSpPr>
          <p:cNvPr id="49" name="路由头底5"/>
          <p:cNvSpPr/>
          <p:nvPr/>
        </p:nvSpPr>
        <p:spPr>
          <a:xfrm>
            <a:off x="9661916" y="2788920"/>
            <a:ext cx="1889699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0" name="路由头5"/>
          <p:cNvSpPr txBox="1"/>
          <p:nvPr/>
        </p:nvSpPr>
        <p:spPr>
          <a:xfrm>
            <a:off x="9661916" y="2788920"/>
            <a:ext cx="18896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紧急求助</a:t>
            </a:r>
            <a:endParaRPr lang="en-US" sz="1300" dirty="0"/>
          </a:p>
        </p:txBody>
      </p:sp>
      <p:sp>
        <p:nvSpPr>
          <p:cNvPr id="51" name="路由步骤底"/>
          <p:cNvSpPr/>
          <p:nvPr/>
        </p:nvSpPr>
        <p:spPr>
          <a:xfrm>
            <a:off x="9661916" y="3291840"/>
            <a:ext cx="1889699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52" name="路由步骤5-1"/>
          <p:cNvSpPr txBox="1"/>
          <p:nvPr/>
        </p:nvSpPr>
        <p:spPr>
          <a:xfrm>
            <a:off x="9680204" y="3291840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立即提示转 110 / 119 / 120</a:t>
            </a:r>
            <a:endParaRPr lang="en-US" sz="1250" dirty="0"/>
          </a:p>
        </p:txBody>
      </p:sp>
      <p:sp>
        <p:nvSpPr>
          <p:cNvPr id="53" name="路由步骤底"/>
          <p:cNvSpPr/>
          <p:nvPr/>
        </p:nvSpPr>
        <p:spPr>
          <a:xfrm>
            <a:off x="9661916" y="4005072"/>
            <a:ext cx="1889699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54" name="路由步骤5-2"/>
          <p:cNvSpPr txBox="1"/>
          <p:nvPr/>
        </p:nvSpPr>
        <p:spPr>
          <a:xfrm>
            <a:off x="9680204" y="4005072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并行建单记录</a:t>
            </a:r>
            <a:endParaRPr lang="en-US" sz="1250" dirty="0"/>
          </a:p>
        </p:txBody>
      </p:sp>
      <p:sp>
        <p:nvSpPr>
          <p:cNvPr id="55" name="路由末步底"/>
          <p:cNvSpPr/>
          <p:nvPr/>
        </p:nvSpPr>
        <p:spPr>
          <a:xfrm>
            <a:off x="9661916" y="4727448"/>
            <a:ext cx="1889699" cy="566928"/>
          </a:xfrm>
          <a:prstGeom prst="roundRect">
            <a:avLst>
              <a:gd name="adj" fmla="val 19355"/>
            </a:avLst>
          </a:prstGeom>
          <a:solidFill>
            <a:srgbClr val="FDECEC"/>
          </a:solidFill>
          <a:ln w="12700">
            <a:solidFill>
              <a:srgbClr val="E8A5A5"/>
            </a:solidFill>
            <a:prstDash val="solid"/>
          </a:ln>
        </p:spPr>
      </p:sp>
      <p:sp>
        <p:nvSpPr>
          <p:cNvPr id="56" name="路由末步5"/>
          <p:cNvSpPr txBox="1"/>
          <p:nvPr/>
        </p:nvSpPr>
        <p:spPr>
          <a:xfrm>
            <a:off x="9680204" y="4727448"/>
            <a:ext cx="18531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人工跟进</a:t>
            </a:r>
            <a:endParaRPr lang="en-US" sz="1250" dirty="0"/>
          </a:p>
        </p:txBody>
      </p:sp>
      <p:sp>
        <p:nvSpPr>
          <p:cNvPr id="57" name="原则条底"/>
          <p:cNvSpPr/>
          <p:nvPr/>
        </p:nvSpPr>
        <p:spPr>
          <a:xfrm>
            <a:off x="548640" y="557784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8" name="原则1"/>
          <p:cNvSpPr txBox="1"/>
          <p:nvPr/>
        </p:nvSpPr>
        <p:spPr>
          <a:xfrm>
            <a:off x="822960" y="5577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FF"/>
                </a:solidFill>
              </a:rPr>
              <a:t>大模型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理解与起草</a:t>
            </a:r>
            <a:endParaRPr lang="en-US" sz="1400" dirty="0"/>
          </a:p>
        </p:txBody>
      </p:sp>
      <p:sp>
        <p:nvSpPr>
          <p:cNvPr id="59" name="原则2"/>
          <p:cNvSpPr txBox="1"/>
          <p:nvPr/>
        </p:nvSpPr>
        <p:spPr>
          <a:xfrm>
            <a:off x="3200400" y="5577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FF"/>
                </a:solidFill>
              </a:rPr>
              <a:t>代码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核对与裁决</a:t>
            </a:r>
            <a:endParaRPr lang="en-US" sz="1400" dirty="0"/>
          </a:p>
        </p:txBody>
      </p:sp>
      <p:sp>
        <p:nvSpPr>
          <p:cNvPr id="60" name="原则3"/>
          <p:cNvSpPr txBox="1"/>
          <p:nvPr/>
        </p:nvSpPr>
        <p:spPr>
          <a:xfrm>
            <a:off x="5486400" y="5577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FF"/>
                </a:solidFill>
              </a:rPr>
              <a:t>工作人员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最终确认</a:t>
            </a:r>
            <a:endParaRPr lang="en-US" sz="1400" dirty="0"/>
          </a:p>
        </p:txBody>
      </p:sp>
      <p:sp>
        <p:nvSpPr>
          <p:cNvPr id="61" name="原则4"/>
          <p:cNvSpPr txBox="1"/>
          <p:nvPr/>
        </p:nvSpPr>
        <p:spPr>
          <a:xfrm>
            <a:off x="7772400" y="5577840"/>
            <a:ext cx="3687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FF"/>
                </a:solidFill>
              </a:rPr>
              <a:t>知识底座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条款 6,127 · 权责 53 · 先例 18</a:t>
            </a:r>
            <a:endParaRPr lang="en-US" sz="1400" dirty="0"/>
          </a:p>
        </p:txBody>
      </p:sp>
      <p:sp>
        <p:nvSpPr>
          <p:cNvPr id="62" name="来源说明"/>
          <p:cNvSpPr txBox="1"/>
          <p:nvPr/>
        </p:nvSpPr>
        <p:spPr>
          <a:xfrm>
            <a:off x="548640" y="6400800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基于极智平台「对话流 + 子工作流 + 意图分支 + MCP」实现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签底"/>
          <p:cNvSpPr/>
          <p:nvPr/>
        </p:nvSpPr>
        <p:spPr>
          <a:xfrm>
            <a:off x="548640" y="347472"/>
            <a:ext cx="173736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章节标签"/>
          <p:cNvSpPr txBox="1"/>
          <p:nvPr/>
        </p:nvSpPr>
        <p:spPr>
          <a:xfrm>
            <a:off x="548640" y="3474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四 · 为什么用 JEV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判断交给「系统一」，写作交给「系统二」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大模型擅长写；JEV 不写字，直接返回带概率的结构化判断</a:t>
            </a:r>
            <a:endParaRPr lang="en-US" sz="1400" dirty="0"/>
          </a:p>
        </p:txBody>
      </p:sp>
      <p:graphicFrame>
        <p:nvGraphicFramePr>
          <p:cNvPr id="6" name="对比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传统大模型（系统二）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JEV（系统一）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生成文字，需要解析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直接返回结构化决策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响应速度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– 329 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 – 500 毫秒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输入价格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$0.20 – $10 / 百万 token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$0.042 / 百万 token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结构化输出错误率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0.58% – 45.5%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0%（数学保证）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本系统实测·意图判断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Agnes 3.0 Flash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中位数 5.8 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typesafe/jev-1.13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中位数 707 毫秒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DC"/>
                    </a:solidFill>
                  </a:tcPr>
                </a:tc>
              </a:tr>
            </a:tbl>
          </a:graphicData>
        </a:graphic>
      </p:graphicFrame>
      <p:sp>
        <p:nvSpPr>
          <p:cNvPr id="7" name="JEV输出卡底"/>
          <p:cNvSpPr/>
          <p:nvPr/>
        </p:nvSpPr>
        <p:spPr>
          <a:xfrm>
            <a:off x="7680960" y="1965960"/>
            <a:ext cx="3962095" cy="1874520"/>
          </a:xfrm>
          <a:prstGeom prst="roundRect">
            <a:avLst>
              <a:gd name="adj" fmla="val 58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JEV卡标题"/>
          <p:cNvSpPr txBox="1"/>
          <p:nvPr/>
        </p:nvSpPr>
        <p:spPr>
          <a:xfrm>
            <a:off x="790956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E4"/>
                </a:solidFill>
              </a:rPr>
              <a:t>一次调用 · 三个判断（衡山支路工单真实返回）</a:t>
            </a:r>
            <a:endParaRPr lang="en-US" sz="1100" dirty="0"/>
          </a:p>
        </p:txBody>
      </p:sp>
      <p:sp>
        <p:nvSpPr>
          <p:cNvPr id="9" name="JEV键1"/>
          <p:cNvSpPr txBox="1"/>
          <p:nvPr/>
        </p:nvSpPr>
        <p:spPr>
          <a:xfrm>
            <a:off x="790956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意图</a:t>
            </a:r>
            <a:endParaRPr lang="en-US" sz="1300" dirty="0"/>
          </a:p>
        </p:txBody>
      </p:sp>
      <p:sp>
        <p:nvSpPr>
          <p:cNvPr id="10" name="JEV值1"/>
          <p:cNvSpPr txBox="1"/>
          <p:nvPr/>
        </p:nvSpPr>
        <p:spPr>
          <a:xfrm>
            <a:off x="9601200" y="2468880"/>
            <a:ext cx="181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新诉求受理</a:t>
            </a:r>
            <a:endParaRPr lang="en-US" sz="1500" dirty="0"/>
          </a:p>
        </p:txBody>
      </p:sp>
      <p:sp>
        <p:nvSpPr>
          <p:cNvPr id="11" name="JEV键2"/>
          <p:cNvSpPr txBox="1"/>
          <p:nvPr/>
        </p:nvSpPr>
        <p:spPr>
          <a:xfrm>
            <a:off x="7909560" y="2907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人工复核概率</a:t>
            </a:r>
            <a:endParaRPr lang="en-US" sz="1300" dirty="0"/>
          </a:p>
        </p:txBody>
      </p:sp>
      <p:sp>
        <p:nvSpPr>
          <p:cNvPr id="12" name="JEV值2"/>
          <p:cNvSpPr txBox="1"/>
          <p:nvPr/>
        </p:nvSpPr>
        <p:spPr>
          <a:xfrm>
            <a:off x="9601200" y="2907792"/>
            <a:ext cx="181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0.64</a:t>
            </a:r>
            <a:endParaRPr lang="en-US" sz="1500" dirty="0"/>
          </a:p>
        </p:txBody>
      </p:sp>
      <p:sp>
        <p:nvSpPr>
          <p:cNvPr id="13" name="JEV键3"/>
          <p:cNvSpPr txBox="1"/>
          <p:nvPr/>
        </p:nvSpPr>
        <p:spPr>
          <a:xfrm>
            <a:off x="7909560" y="33467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紧急度</a:t>
            </a:r>
            <a:endParaRPr lang="en-US" sz="1300" dirty="0"/>
          </a:p>
        </p:txBody>
      </p:sp>
      <p:sp>
        <p:nvSpPr>
          <p:cNvPr id="14" name="JEV值3"/>
          <p:cNvSpPr txBox="1"/>
          <p:nvPr/>
        </p:nvSpPr>
        <p:spPr>
          <a:xfrm>
            <a:off x="9601200" y="3346704"/>
            <a:ext cx="181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加急</a:t>
            </a:r>
            <a:endParaRPr lang="en-US" sz="1500" dirty="0"/>
          </a:p>
        </p:txBody>
      </p:sp>
      <p:sp>
        <p:nvSpPr>
          <p:cNvPr id="15" name="规则卡"/>
          <p:cNvSpPr/>
          <p:nvPr/>
        </p:nvSpPr>
        <p:spPr>
          <a:xfrm>
            <a:off x="7680960" y="4023360"/>
            <a:ext cx="3962095" cy="2240280"/>
          </a:xfrm>
          <a:prstGeom prst="roundRect">
            <a:avLst>
              <a:gd name="adj" fmla="val 4898"/>
            </a:avLst>
          </a:prstGeom>
          <a:solidFill>
            <a:srgbClr val="FFF6F0"/>
          </a:solidFill>
          <a:ln w="12700">
            <a:solidFill>
              <a:srgbClr val="F2C9B3"/>
            </a:solidFill>
            <a:prstDash val="solid"/>
          </a:ln>
        </p:spPr>
      </p:sp>
      <p:sp>
        <p:nvSpPr>
          <p:cNvPr id="16" name="规则标题"/>
          <p:cNvSpPr txBox="1"/>
          <p:nvPr/>
        </p:nvSpPr>
        <p:spPr>
          <a:xfrm>
            <a:off x="790956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概率可以直接当规则用</a:t>
            </a:r>
            <a:endParaRPr lang="en-US" sz="1700" dirty="0"/>
          </a:p>
        </p:txBody>
      </p:sp>
      <p:sp>
        <p:nvSpPr>
          <p:cNvPr id="17" name="规则要点"/>
          <p:cNvSpPr txBox="1"/>
          <p:nvPr/>
        </p:nvSpPr>
        <p:spPr>
          <a:xfrm>
            <a:off x="7909560" y="4572000"/>
            <a:ext cx="35506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复核概率 ≥ 0.5：「可裁决」降为「建议复核」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「紧急求助」：立即提示转 110 / 119 / 120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服务不可用：自动降级为规则路由</a:t>
            </a:r>
            <a:endParaRPr lang="en-US" sz="1300" dirty="0"/>
          </a:p>
        </p:txBody>
      </p:sp>
      <p:sp>
        <p:nvSpPr>
          <p:cNvPr id="18" name="数据口径"/>
          <p:cNvSpPr txBox="1"/>
          <p:nvPr/>
        </p:nvSpPr>
        <p:spPr>
          <a:xfrm>
            <a:off x="548640" y="5897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前四行为 TypeSafe AI 官方自测数据；实测为本系统 18 件官方工单，经 OpenRouter 调用，含跨境网络往返。</a:t>
            </a:r>
            <a:endParaRPr lang="en-US" sz="1100" dirty="0"/>
          </a:p>
        </p:txBody>
      </p:sp>
      <p:sp>
        <p:nvSpPr>
          <p:cNvPr id="19" name="来源说明"/>
          <p:cNvSpPr txBox="1"/>
          <p:nvPr/>
        </p:nvSpPr>
        <p:spPr>
          <a:xfrm>
            <a:off x="548640" y="6400800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JEV 只做判断、不生成文字；起草与研判仍由大模型完成，裁决由代码给出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签底"/>
          <p:cNvSpPr/>
          <p:nvPr/>
        </p:nvSpPr>
        <p:spPr>
          <a:xfrm>
            <a:off x="548640" y="347472"/>
            <a:ext cx="196596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章节标签"/>
          <p:cNvSpPr txBox="1"/>
          <p:nvPr/>
        </p:nvSpPr>
        <p:spPr>
          <a:xfrm>
            <a:off x="548640" y="34747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五 · 赛题核心加分项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政策依据：引得准、查得到、还有效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四道校验全部由代码完成，不依赖模型「自觉」</a:t>
            </a:r>
            <a:endParaRPr lang="en-US" sz="1400" dirty="0"/>
          </a:p>
        </p:txBody>
      </p:sp>
      <p:sp>
        <p:nvSpPr>
          <p:cNvPr id="6" name="校验卡1"/>
          <p:cNvSpPr/>
          <p:nvPr/>
        </p:nvSpPr>
        <p:spPr>
          <a:xfrm>
            <a:off x="548640" y="1965960"/>
            <a:ext cx="60350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7" name="序号底"/>
          <p:cNvSpPr/>
          <p:nvPr/>
        </p:nvSpPr>
        <p:spPr>
          <a:xfrm>
            <a:off x="749808" y="21488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序号"/>
          <p:cNvSpPr txBox="1"/>
          <p:nvPr/>
        </p:nvSpPr>
        <p:spPr>
          <a:xfrm>
            <a:off x="74980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校验文字1"/>
          <p:cNvSpPr txBox="1"/>
          <p:nvPr/>
        </p:nvSpPr>
        <p:spPr>
          <a:xfrm>
            <a:off x="1325880" y="196596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编号存在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引用必须出自本次检索结果，凭记忆引用一律剔除</a:t>
            </a:r>
            <a:endParaRPr lang="en-US" sz="1400" dirty="0"/>
          </a:p>
        </p:txBody>
      </p:sp>
      <p:sp>
        <p:nvSpPr>
          <p:cNvPr id="10" name="校验卡2"/>
          <p:cNvSpPr/>
          <p:nvPr/>
        </p:nvSpPr>
        <p:spPr>
          <a:xfrm>
            <a:off x="548640" y="2862072"/>
            <a:ext cx="60350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11" name="序号底"/>
          <p:cNvSpPr/>
          <p:nvPr/>
        </p:nvSpPr>
        <p:spPr>
          <a:xfrm>
            <a:off x="749808" y="30449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序号"/>
          <p:cNvSpPr txBox="1"/>
          <p:nvPr/>
        </p:nvSpPr>
        <p:spPr>
          <a:xfrm>
            <a:off x="74980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校验文字2"/>
          <p:cNvSpPr txBox="1"/>
          <p:nvPr/>
        </p:nvSpPr>
        <p:spPr>
          <a:xfrm>
            <a:off x="1325880" y="286207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逐字一致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摘录必须与条文原文一致，否则替换为原文</a:t>
            </a:r>
            <a:endParaRPr lang="en-US" sz="1400" dirty="0"/>
          </a:p>
        </p:txBody>
      </p:sp>
      <p:sp>
        <p:nvSpPr>
          <p:cNvPr id="14" name="校验卡3"/>
          <p:cNvSpPr/>
          <p:nvPr/>
        </p:nvSpPr>
        <p:spPr>
          <a:xfrm>
            <a:off x="548640" y="3758184"/>
            <a:ext cx="60350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15" name="序号底"/>
          <p:cNvSpPr/>
          <p:nvPr/>
        </p:nvSpPr>
        <p:spPr>
          <a:xfrm>
            <a:off x="749808" y="39410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序号"/>
          <p:cNvSpPr txBox="1"/>
          <p:nvPr/>
        </p:nvSpPr>
        <p:spPr>
          <a:xfrm>
            <a:off x="749808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校验文字3"/>
          <p:cNvSpPr txBox="1"/>
          <p:nvPr/>
        </p:nvSpPr>
        <p:spPr>
          <a:xfrm>
            <a:off x="1325880" y="375818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现行有效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已废止条款不能作依据，并提示替代法规</a:t>
            </a:r>
            <a:endParaRPr lang="en-US" sz="1400" dirty="0"/>
          </a:p>
        </p:txBody>
      </p:sp>
      <p:sp>
        <p:nvSpPr>
          <p:cNvPr id="18" name="校验卡4"/>
          <p:cNvSpPr/>
          <p:nvPr/>
        </p:nvSpPr>
        <p:spPr>
          <a:xfrm>
            <a:off x="548640" y="4654296"/>
            <a:ext cx="60350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19" name="序号底"/>
          <p:cNvSpPr/>
          <p:nvPr/>
        </p:nvSpPr>
        <p:spPr>
          <a:xfrm>
            <a:off x="749808" y="48371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序号"/>
          <p:cNvSpPr txBox="1"/>
          <p:nvPr/>
        </p:nvSpPr>
        <p:spPr>
          <a:xfrm>
            <a:off x="749808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校验文字4"/>
          <p:cNvSpPr txBox="1"/>
          <p:nvPr/>
        </p:nvSpPr>
        <p:spPr>
          <a:xfrm>
            <a:off x="1325880" y="465429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理由可回指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每条派单理由的编号都要通过校验</a:t>
            </a:r>
            <a:endParaRPr lang="en-US" sz="1400" dirty="0"/>
          </a:p>
        </p:txBody>
      </p:sp>
      <p:sp>
        <p:nvSpPr>
          <p:cNvPr id="22" name="数字1"/>
          <p:cNvSpPr txBox="1"/>
          <p:nvPr/>
        </p:nvSpPr>
        <p:spPr>
          <a:xfrm>
            <a:off x="69494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86</a:t>
            </a:r>
            <a:endParaRPr lang="en-US" sz="5400" dirty="0"/>
          </a:p>
        </p:txBody>
      </p:sp>
      <p:sp>
        <p:nvSpPr>
          <p:cNvPr id="23" name="数字1说明"/>
          <p:cNvSpPr txBox="1"/>
          <p:nvPr/>
        </p:nvSpPr>
        <p:spPr>
          <a:xfrm>
            <a:off x="827532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部现行法规官方原文</a:t>
            </a:r>
            <a:endParaRPr lang="en-US" sz="1400" dirty="0"/>
          </a:p>
        </p:txBody>
      </p:sp>
      <p:sp>
        <p:nvSpPr>
          <p:cNvPr id="24" name="数字2"/>
          <p:cNvSpPr txBox="1"/>
          <p:nvPr/>
        </p:nvSpPr>
        <p:spPr>
          <a:xfrm>
            <a:off x="694944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6,127</a:t>
            </a:r>
            <a:endParaRPr lang="en-US" sz="5400" dirty="0"/>
          </a:p>
        </p:txBody>
      </p:sp>
      <p:sp>
        <p:nvSpPr>
          <p:cNvPr id="25" name="数字2说明"/>
          <p:cNvSpPr txBox="1"/>
          <p:nvPr/>
        </p:nvSpPr>
        <p:spPr>
          <a:xfrm>
            <a:off x="9098280" y="2788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个条款块，按「条」切分，每块带出处、层级、时效</a:t>
            </a:r>
            <a:endParaRPr lang="en-US" sz="1400" dirty="0"/>
          </a:p>
        </p:txBody>
      </p:sp>
      <p:graphicFrame>
        <p:nvGraphicFramePr>
          <p:cNvPr id="7" name="法规层级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657600"/>
          <a:ext cx="46936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097280"/>
                <a:gridCol w="10789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条款块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国家法律（含生态环境法典）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 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3,292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国务院行政法规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1,404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安徽省 / 芜湖市地方性法规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+ 14 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982 + 432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12345 热线规范性文件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提示卡"/>
          <p:cNvSpPr/>
          <p:nvPr/>
        </p:nvSpPr>
        <p:spPr>
          <a:xfrm>
            <a:off x="6949440" y="5257800"/>
            <a:ext cx="4693615" cy="1005840"/>
          </a:xfrm>
          <a:prstGeom prst="roundRect">
            <a:avLst>
              <a:gd name="adj" fmla="val 10909"/>
            </a:avLst>
          </a:prstGeom>
          <a:solidFill>
            <a:srgbClr val="EAF1FC"/>
          </a:solidFill>
          <a:ln w="12700">
            <a:solidFill>
              <a:srgbClr val="9DB8E4"/>
            </a:solidFill>
            <a:prstDash val="solid"/>
          </a:ln>
        </p:spPr>
      </p:sp>
      <p:sp>
        <p:nvSpPr>
          <p:cNvPr id="28" name="提示文字"/>
          <p:cNvSpPr txBox="1"/>
          <p:nvPr/>
        </p:nvSpPr>
        <p:spPr>
          <a:xfrm>
            <a:off x="7178040" y="525780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建库时发现：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四部环保法已于 2026-08-15 被《生态环境法典》替代——今天再引《环境保护法》，就是引用失效依据。</a:t>
            </a:r>
            <a:endParaRPr lang="en-US" sz="1300" dirty="0"/>
          </a:p>
        </p:txBody>
      </p:sp>
      <p:sp>
        <p:nvSpPr>
          <p:cNvPr id="29" name="来源说明"/>
          <p:cNvSpPr txBox="1"/>
          <p:nvPr/>
        </p:nvSpPr>
        <p:spPr>
          <a:xfrm>
            <a:off x="548640" y="6400800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来源：国家法律法规数据库官方原文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系统演示：真实运行录屏</a:t>
            </a:r>
            <a:endParaRPr lang="en-US" sz="3000" dirty="0"/>
          </a:p>
        </p:txBody>
      </p:sp>
      <p:sp>
        <p:nvSpPr>
          <p:cNvPr id="3" name="视频提示"/>
          <p:cNvSpPr txBox="1"/>
          <p:nvPr/>
        </p:nvSpPr>
        <p:spPr>
          <a:xfrm>
            <a:off x="7802575" y="7498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FE0FA"/>
                </a:solidFill>
              </a:rPr>
              <a:t>视频约 4 分 20 秒 · 播放期间不讲话</a:t>
            </a:r>
            <a:endParaRPr lang="en-US" sz="1400" dirty="0"/>
          </a:p>
        </p:txBody>
      </p:sp>
      <p:pic>
        <p:nvPicPr>
          <p:cNvPr id="4" name="视频封面（替换为视频）" descr="系统运行界面截图，播放时用视频替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680960" cy="4320540"/>
          </a:xfrm>
          <a:prstGeom prst="rect">
            <a:avLst/>
          </a:prstGeom>
        </p:spPr>
      </p:pic>
      <p:sp>
        <p:nvSpPr>
          <p:cNvPr id="5" name="播放键底"/>
          <p:cNvSpPr/>
          <p:nvPr/>
        </p:nvSpPr>
        <p:spPr>
          <a:xfrm>
            <a:off x="3886200" y="3300984"/>
            <a:ext cx="1005840" cy="1005840"/>
          </a:xfrm>
          <a:prstGeom prst="ellipse">
            <a:avLst/>
          </a:prstGeom>
          <a:solidFill>
            <a:srgbClr val="0F1B33">
              <a:alpha val="7000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播放键"/>
          <p:cNvSpPr txBox="1"/>
          <p:nvPr/>
        </p:nvSpPr>
        <p:spPr>
          <a:xfrm>
            <a:off x="3886200" y="330098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▶</a:t>
            </a:r>
            <a:endParaRPr lang="en-US" sz="3000" dirty="0"/>
          </a:p>
        </p:txBody>
      </p:sp>
      <p:sp>
        <p:nvSpPr>
          <p:cNvPr id="7" name="观看提示标题"/>
          <p:cNvSpPr txBox="1"/>
          <p:nvPr/>
        </p:nvSpPr>
        <p:spPr>
          <a:xfrm>
            <a:off x="8595360" y="1645920"/>
            <a:ext cx="3047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视频里看这三处</a:t>
            </a:r>
            <a:endParaRPr lang="en-US" sz="1800" dirty="0"/>
          </a:p>
        </p:txBody>
      </p:sp>
      <p:sp>
        <p:nvSpPr>
          <p:cNvPr id="8" name="观看卡底1"/>
          <p:cNvSpPr/>
          <p:nvPr/>
        </p:nvSpPr>
        <p:spPr>
          <a:xfrm>
            <a:off x="8595360" y="2194560"/>
            <a:ext cx="3047695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观看时间1"/>
          <p:cNvSpPr txBox="1"/>
          <p:nvPr/>
        </p:nvSpPr>
        <p:spPr>
          <a:xfrm>
            <a:off x="8778240" y="2194560"/>
            <a:ext cx="868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0FF"/>
                </a:solidFill>
              </a:rPr>
              <a:t>看点 1</a:t>
            </a:r>
            <a:endParaRPr lang="en-US" sz="1500" dirty="0"/>
          </a:p>
        </p:txBody>
      </p:sp>
      <p:sp>
        <p:nvSpPr>
          <p:cNvPr id="10" name="观看说明1"/>
          <p:cNvSpPr txBox="1"/>
          <p:nvPr/>
        </p:nvSpPr>
        <p:spPr>
          <a:xfrm>
            <a:off x="9646920" y="2194560"/>
            <a:ext cx="185897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「需人工定责」：把冲突点摆出来，不替人拍板</a:t>
            </a:r>
            <a:endParaRPr lang="en-US" sz="1300" dirty="0"/>
          </a:p>
        </p:txBody>
      </p:sp>
      <p:sp>
        <p:nvSpPr>
          <p:cNvPr id="11" name="观看卡底2"/>
          <p:cNvSpPr/>
          <p:nvPr/>
        </p:nvSpPr>
        <p:spPr>
          <a:xfrm>
            <a:off x="8595360" y="3383280"/>
            <a:ext cx="3047695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观看时间2"/>
          <p:cNvSpPr txBox="1"/>
          <p:nvPr/>
        </p:nvSpPr>
        <p:spPr>
          <a:xfrm>
            <a:off x="8778240" y="3383280"/>
            <a:ext cx="868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0FF"/>
                </a:solidFill>
              </a:rPr>
              <a:t>看点 2</a:t>
            </a:r>
            <a:endParaRPr lang="en-US" sz="1500" dirty="0"/>
          </a:p>
        </p:txBody>
      </p:sp>
      <p:sp>
        <p:nvSpPr>
          <p:cNvPr id="13" name="观看说明2"/>
          <p:cNvSpPr txBox="1"/>
          <p:nvPr/>
        </p:nvSpPr>
        <p:spPr>
          <a:xfrm>
            <a:off x="9646920" y="3383280"/>
            <a:ext cx="185897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引用核验：发现错引，并反查出正确出处</a:t>
            </a:r>
            <a:endParaRPr lang="en-US" sz="1300" dirty="0"/>
          </a:p>
        </p:txBody>
      </p:sp>
      <p:sp>
        <p:nvSpPr>
          <p:cNvPr id="14" name="观看卡底3"/>
          <p:cNvSpPr/>
          <p:nvPr/>
        </p:nvSpPr>
        <p:spPr>
          <a:xfrm>
            <a:off x="8595360" y="4572000"/>
            <a:ext cx="3047695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观看时间3"/>
          <p:cNvSpPr txBox="1"/>
          <p:nvPr/>
        </p:nvSpPr>
        <p:spPr>
          <a:xfrm>
            <a:off x="8778240" y="4572000"/>
            <a:ext cx="868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0FF"/>
                </a:solidFill>
              </a:rPr>
              <a:t>看点 3</a:t>
            </a:r>
            <a:endParaRPr lang="en-US" sz="1500" dirty="0"/>
          </a:p>
        </p:txBody>
      </p:sp>
      <p:sp>
        <p:nvSpPr>
          <p:cNvPr id="16" name="观看说明3"/>
          <p:cNvSpPr txBox="1"/>
          <p:nvPr/>
        </p:nvSpPr>
        <p:spPr>
          <a:xfrm>
            <a:off x="9646920" y="4572000"/>
            <a:ext cx="185897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18 件实测：漏拦为零</a:t>
            </a:r>
            <a:endParaRPr lang="en-US" sz="1300" dirty="0"/>
          </a:p>
        </p:txBody>
      </p:sp>
      <p:sp>
        <p:nvSpPr>
          <p:cNvPr id="17" name="视频文件名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E4"/>
                </a:solidFill>
              </a:rPr>
              <a:t>演示视频文件：禾安-鸠兹听澜-演示视频-专业版.mp4（真实运行录屏 · 配音 + 字幕）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章节标签底"/>
          <p:cNvSpPr/>
          <p:nvPr/>
        </p:nvSpPr>
        <p:spPr>
          <a:xfrm>
            <a:off x="548640" y="347472"/>
            <a:ext cx="1097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章节标签"/>
          <p:cNvSpPr txBox="1"/>
          <p:nvPr/>
        </p:nvSpPr>
        <p:spPr>
          <a:xfrm>
            <a:off x="548640" y="3474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六 · 效果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件官方工单实测：漏拦为零，错判全偏保守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先保证「不该派的不派」，再追求派得准</a:t>
            </a:r>
            <a:endParaRPr lang="en-US" sz="1400" dirty="0"/>
          </a:p>
        </p:txBody>
      </p:sp>
      <p:sp>
        <p:nvSpPr>
          <p:cNvPr id="6" name="指标卡1"/>
          <p:cNvSpPr/>
          <p:nvPr/>
        </p:nvSpPr>
        <p:spPr>
          <a:xfrm>
            <a:off x="548640" y="1965960"/>
            <a:ext cx="2036003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7" name="指标数字1"/>
          <p:cNvSpPr txBox="1"/>
          <p:nvPr/>
        </p:nvSpPr>
        <p:spPr>
          <a:xfrm>
            <a:off x="731520" y="210312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8" name="指标说明1"/>
          <p:cNvSpPr txBox="1"/>
          <p:nvPr/>
        </p:nvSpPr>
        <p:spPr>
          <a:xfrm>
            <a:off x="731520" y="3063240"/>
            <a:ext cx="16702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漏拦件数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该转人工却判可派</a:t>
            </a:r>
            <a:endParaRPr lang="en-US" sz="1400" dirty="0"/>
          </a:p>
        </p:txBody>
      </p:sp>
      <p:sp>
        <p:nvSpPr>
          <p:cNvPr id="9" name="指标卡2"/>
          <p:cNvSpPr/>
          <p:nvPr/>
        </p:nvSpPr>
        <p:spPr>
          <a:xfrm>
            <a:off x="2813243" y="1965960"/>
            <a:ext cx="2036003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10" name="指标数字2"/>
          <p:cNvSpPr txBox="1"/>
          <p:nvPr/>
        </p:nvSpPr>
        <p:spPr>
          <a:xfrm>
            <a:off x="2996123" y="210312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4600" dirty="0"/>
          </a:p>
        </p:txBody>
      </p:sp>
      <p:sp>
        <p:nvSpPr>
          <p:cNvPr id="11" name="指标说明2"/>
          <p:cNvSpPr txBox="1"/>
          <p:nvPr/>
        </p:nvSpPr>
        <p:spPr>
          <a:xfrm>
            <a:off x="2996123" y="3063240"/>
            <a:ext cx="16702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需人工的工单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全部拦截</a:t>
            </a:r>
            <a:endParaRPr lang="en-US" sz="1400" dirty="0"/>
          </a:p>
        </p:txBody>
      </p:sp>
      <p:sp>
        <p:nvSpPr>
          <p:cNvPr id="12" name="指标卡3"/>
          <p:cNvSpPr/>
          <p:nvPr/>
        </p:nvSpPr>
        <p:spPr>
          <a:xfrm>
            <a:off x="5077846" y="1965960"/>
            <a:ext cx="2036003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13" name="指标数字3"/>
          <p:cNvSpPr txBox="1"/>
          <p:nvPr/>
        </p:nvSpPr>
        <p:spPr>
          <a:xfrm>
            <a:off x="5260726" y="210312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4600" dirty="0"/>
          </a:p>
        </p:txBody>
      </p:sp>
      <p:sp>
        <p:nvSpPr>
          <p:cNvPr id="14" name="指标说明3"/>
          <p:cNvSpPr txBox="1"/>
          <p:nvPr/>
        </p:nvSpPr>
        <p:spPr>
          <a:xfrm>
            <a:off x="5260726" y="3063240"/>
            <a:ext cx="16702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四态准确率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4 件错判全部偏保守</a:t>
            </a:r>
            <a:endParaRPr lang="en-US" sz="1400" dirty="0"/>
          </a:p>
        </p:txBody>
      </p:sp>
      <p:sp>
        <p:nvSpPr>
          <p:cNvPr id="15" name="指标卡4"/>
          <p:cNvSpPr/>
          <p:nvPr/>
        </p:nvSpPr>
        <p:spPr>
          <a:xfrm>
            <a:off x="7342449" y="1965960"/>
            <a:ext cx="2036003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16" name="指标数字4"/>
          <p:cNvSpPr txBox="1"/>
          <p:nvPr/>
        </p:nvSpPr>
        <p:spPr>
          <a:xfrm>
            <a:off x="7525329" y="210312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4600" dirty="0"/>
          </a:p>
        </p:txBody>
      </p:sp>
      <p:sp>
        <p:nvSpPr>
          <p:cNvPr id="17" name="指标说明4"/>
          <p:cNvSpPr txBox="1"/>
          <p:nvPr/>
        </p:nvSpPr>
        <p:spPr>
          <a:xfrm>
            <a:off x="7525329" y="3063240"/>
            <a:ext cx="16702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主办单位命中率</a:t>
            </a:r>
            <a:endParaRPr lang="en-US" sz="1400" dirty="0"/>
          </a:p>
        </p:txBody>
      </p:sp>
      <p:sp>
        <p:nvSpPr>
          <p:cNvPr id="18" name="指标卡5"/>
          <p:cNvSpPr/>
          <p:nvPr/>
        </p:nvSpPr>
        <p:spPr>
          <a:xfrm>
            <a:off x="9607052" y="1965960"/>
            <a:ext cx="2036003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0F1B33">
                <a:alpha val="12000"/>
              </a:srgbClr>
            </a:outerShdw>
          </a:effectLst>
        </p:spPr>
      </p:sp>
      <p:sp>
        <p:nvSpPr>
          <p:cNvPr id="19" name="指标数字5"/>
          <p:cNvSpPr txBox="1"/>
          <p:nvPr/>
        </p:nvSpPr>
        <p:spPr>
          <a:xfrm>
            <a:off x="9789932" y="2103120"/>
            <a:ext cx="1670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20" name="指标说明5"/>
          <p:cNvSpPr txBox="1"/>
          <p:nvPr/>
        </p:nvSpPr>
        <p:spPr>
          <a:xfrm>
            <a:off x="9789932" y="3063240"/>
            <a:ext cx="16702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引用通过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四道代码校验</a:t>
            </a:r>
            <a:endParaRPr lang="en-US" sz="1400" dirty="0"/>
          </a:p>
        </p:txBody>
      </p:sp>
      <p:sp>
        <p:nvSpPr>
          <p:cNvPr id="21" name="角色卡1"/>
          <p:cNvSpPr/>
          <p:nvPr/>
        </p:nvSpPr>
        <p:spPr>
          <a:xfrm>
            <a:off x="548640" y="42062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2" name="角色标题1"/>
          <p:cNvSpPr txBox="1"/>
          <p:nvPr/>
        </p:nvSpPr>
        <p:spPr>
          <a:xfrm>
            <a:off x="777240" y="427939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受理员 · 审核员</a:t>
            </a:r>
            <a:endParaRPr lang="en-US" sz="1600" dirty="0"/>
          </a:p>
        </p:txBody>
      </p:sp>
      <p:sp>
        <p:nvSpPr>
          <p:cNvPr id="23" name="角色说明1"/>
          <p:cNvSpPr txBox="1"/>
          <p:nvPr/>
        </p:nvSpPr>
        <p:spPr>
          <a:xfrm>
            <a:off x="777240" y="4681728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要素逐项附原话，缺什么直接生成追问——审核不用回听录音</a:t>
            </a:r>
            <a:endParaRPr lang="en-US" sz="1300" dirty="0"/>
          </a:p>
        </p:txBody>
      </p:sp>
      <p:sp>
        <p:nvSpPr>
          <p:cNvPr id="24" name="角色卡2"/>
          <p:cNvSpPr/>
          <p:nvPr/>
        </p:nvSpPr>
        <p:spPr>
          <a:xfrm>
            <a:off x="4338218" y="42062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5" name="角色标题2"/>
          <p:cNvSpPr txBox="1"/>
          <p:nvPr/>
        </p:nvSpPr>
        <p:spPr>
          <a:xfrm>
            <a:off x="4566818" y="427939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转派员 · 协调员</a:t>
            </a:r>
            <a:endParaRPr lang="en-US" sz="1600" dirty="0"/>
          </a:p>
        </p:txBody>
      </p:sp>
      <p:sp>
        <p:nvSpPr>
          <p:cNvPr id="26" name="角色说明2"/>
          <p:cNvSpPr txBox="1"/>
          <p:nvPr/>
        </p:nvSpPr>
        <p:spPr>
          <a:xfrm>
            <a:off x="4566818" y="4681728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主办、协办和每条理由的法规出处一目了然，交叉事项提前标出</a:t>
            </a:r>
            <a:endParaRPr lang="en-US" sz="1300" dirty="0"/>
          </a:p>
        </p:txBody>
      </p:sp>
      <p:sp>
        <p:nvSpPr>
          <p:cNvPr id="27" name="角色卡3"/>
          <p:cNvSpPr/>
          <p:nvPr/>
        </p:nvSpPr>
        <p:spPr>
          <a:xfrm>
            <a:off x="8127797" y="420624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8" name="角色标题3"/>
          <p:cNvSpPr txBox="1"/>
          <p:nvPr/>
        </p:nvSpPr>
        <p:spPr>
          <a:xfrm>
            <a:off x="8356397" y="427939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回复审核员</a:t>
            </a:r>
            <a:endParaRPr lang="en-US" sz="1600" dirty="0"/>
          </a:p>
        </p:txBody>
      </p:sp>
      <p:sp>
        <p:nvSpPr>
          <p:cNvPr id="29" name="角色说明3"/>
          <p:cNvSpPr txBox="1"/>
          <p:nvPr/>
        </p:nvSpPr>
        <p:spPr>
          <a:xfrm>
            <a:off x="8356397" y="4681728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承诺性用语、个人信息、引错的法条，在发出前就被拦下</a:t>
            </a:r>
            <a:endParaRPr lang="en-US" sz="1300" dirty="0"/>
          </a:p>
        </p:txBody>
      </p:sp>
      <p:sp>
        <p:nvSpPr>
          <p:cNvPr id="30" name="价值条底"/>
          <p:cNvSpPr/>
          <p:nvPr/>
        </p:nvSpPr>
        <p:spPr>
          <a:xfrm>
            <a:off x="548640" y="571500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AF1FC"/>
          </a:solidFill>
          <a:ln w="12700">
            <a:solidFill>
              <a:srgbClr val="9DB8E4"/>
            </a:solidFill>
            <a:prstDash val="solid"/>
          </a:ln>
        </p:spPr>
      </p:sp>
      <p:sp>
        <p:nvSpPr>
          <p:cNvPr id="31" name="价值文字"/>
          <p:cNvSpPr txBox="1"/>
          <p:nvPr/>
        </p:nvSpPr>
        <p:spPr>
          <a:xfrm>
            <a:off x="822960" y="571500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价值测算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中型地市年受理约 50 万件，每件省 5 分钟 ≈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4.2 万工时/年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，约 23 人年、175 万元人力价值</a:t>
            </a:r>
            <a:endParaRPr lang="en-US" sz="1400" dirty="0"/>
          </a:p>
        </p:txBody>
      </p:sp>
      <p:sp>
        <p:nvSpPr>
          <p:cNvPr id="32" name="来源说明"/>
          <p:cNvSpPr txBox="1"/>
          <p:nvPr/>
        </p:nvSpPr>
        <p:spPr>
          <a:xfrm>
            <a:off x="548640" y="6400800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期望状态为团队人工标注；先例检索留一法；模型 Agnes 3.0 Flash；测算口径见商业计划书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先在芜湖做出可复核的效果，再复制到长三角</a:t>
            </a:r>
            <a:endParaRPr lang="en-US" sz="3000" dirty="0"/>
          </a:p>
        </p:txBody>
      </p:sp>
      <p:sp>
        <p:nvSpPr>
          <p:cNvPr id="3" name="落地卡底1"/>
          <p:cNvSpPr/>
          <p:nvPr/>
        </p:nvSpPr>
        <p:spPr>
          <a:xfrm>
            <a:off x="548640" y="178308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阶段1"/>
          <p:cNvSpPr txBox="1"/>
          <p:nvPr/>
        </p:nvSpPr>
        <p:spPr>
          <a:xfrm>
            <a:off x="777240" y="187452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A"/>
                </a:solidFill>
              </a:rPr>
              <a:t>第一步 · 6–9 个月</a:t>
            </a:r>
            <a:endParaRPr lang="en-US" sz="1200" dirty="0"/>
          </a:p>
        </p:txBody>
      </p:sp>
      <p:sp>
        <p:nvSpPr>
          <p:cNvPr id="5" name="阶段标题1"/>
          <p:cNvSpPr txBox="1"/>
          <p:nvPr/>
        </p:nvSpPr>
        <p:spPr>
          <a:xfrm>
            <a:off x="777240" y="219456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芜湖样板</a:t>
            </a:r>
            <a:endParaRPr lang="en-US" sz="2000" dirty="0"/>
          </a:p>
        </p:txBody>
      </p:sp>
      <p:sp>
        <p:nvSpPr>
          <p:cNvPr id="6" name="阶段说明1"/>
          <p:cNvSpPr txBox="1"/>
          <p:nvPr/>
        </p:nvSpPr>
        <p:spPr>
          <a:xfrm>
            <a:off x="777240" y="269748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EDFC"/>
                </a:solidFill>
              </a:rPr>
              <a:t>在芜注册落地，争取 12345 场景试点；极智平台与政务云双形态上线</a:t>
            </a:r>
            <a:endParaRPr lang="en-US" sz="1400" dirty="0"/>
          </a:p>
        </p:txBody>
      </p:sp>
      <p:sp>
        <p:nvSpPr>
          <p:cNvPr id="7" name="落地卡底2"/>
          <p:cNvSpPr/>
          <p:nvPr/>
        </p:nvSpPr>
        <p:spPr>
          <a:xfrm>
            <a:off x="4338218" y="178308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阶段2"/>
          <p:cNvSpPr txBox="1"/>
          <p:nvPr/>
        </p:nvSpPr>
        <p:spPr>
          <a:xfrm>
            <a:off x="4566818" y="187452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A"/>
                </a:solidFill>
              </a:rPr>
              <a:t>第二步 · 9–18 个月</a:t>
            </a:r>
            <a:endParaRPr lang="en-US" sz="1200" dirty="0"/>
          </a:p>
        </p:txBody>
      </p:sp>
      <p:sp>
        <p:nvSpPr>
          <p:cNvPr id="9" name="阶段标题2"/>
          <p:cNvSpPr txBox="1"/>
          <p:nvPr/>
        </p:nvSpPr>
        <p:spPr>
          <a:xfrm>
            <a:off x="4566818" y="219456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进入生态</a:t>
            </a:r>
            <a:endParaRPr lang="en-US" sz="2000" dirty="0"/>
          </a:p>
        </p:txBody>
      </p:sp>
      <p:sp>
        <p:nvSpPr>
          <p:cNvPr id="10" name="阶段说明2"/>
          <p:cNvSpPr txBox="1"/>
          <p:nvPr/>
        </p:nvSpPr>
        <p:spPr>
          <a:xfrm>
            <a:off x="4566818" y="269748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EDFC"/>
                </a:solidFill>
              </a:rPr>
              <a:t>作为政务云与集成商的标准组件，新地市只需换一套知识库与配置</a:t>
            </a:r>
            <a:endParaRPr lang="en-US" sz="1400" dirty="0"/>
          </a:p>
        </p:txBody>
      </p:sp>
      <p:sp>
        <p:nvSpPr>
          <p:cNvPr id="11" name="落地卡底3"/>
          <p:cNvSpPr/>
          <p:nvPr/>
        </p:nvSpPr>
        <p:spPr>
          <a:xfrm>
            <a:off x="8127797" y="178308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阶段3"/>
          <p:cNvSpPr txBox="1"/>
          <p:nvPr/>
        </p:nvSpPr>
        <p:spPr>
          <a:xfrm>
            <a:off x="8356397" y="187452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FA"/>
                </a:solidFill>
              </a:rPr>
              <a:t>第三步 · 18–36 个月</a:t>
            </a:r>
            <a:endParaRPr lang="en-US" sz="1200" dirty="0"/>
          </a:p>
        </p:txBody>
      </p:sp>
      <p:sp>
        <p:nvSpPr>
          <p:cNvPr id="13" name="阶段标题3"/>
          <p:cNvSpPr txBox="1"/>
          <p:nvPr/>
        </p:nvSpPr>
        <p:spPr>
          <a:xfrm>
            <a:off x="8356397" y="219456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长三角复制</a:t>
            </a:r>
            <a:endParaRPr lang="en-US" sz="2000" dirty="0"/>
          </a:p>
        </p:txBody>
      </p:sp>
      <p:sp>
        <p:nvSpPr>
          <p:cNvPr id="14" name="阶段说明3"/>
          <p:cNvSpPr txBox="1"/>
          <p:nvPr/>
        </p:nvSpPr>
        <p:spPr>
          <a:xfrm>
            <a:off x="8356397" y="269748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EDFC"/>
                </a:solidFill>
              </a:rPr>
              <a:t>软件授权 + 年度服务；法规每年在变，知识库维护就是持续价值</a:t>
            </a:r>
            <a:endParaRPr lang="en-US" sz="1400" dirty="0"/>
          </a:p>
        </p:txBody>
      </p:sp>
      <p:sp>
        <p:nvSpPr>
          <p:cNvPr id="15" name="金句"/>
          <p:cNvSpPr txBox="1"/>
          <p:nvPr/>
        </p:nvSpPr>
        <p:spPr>
          <a:xfrm>
            <a:off x="548640" y="4251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12345 不缺一个会写工单的模型，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缺的是一个</a:t>
            </a:r>
            <a:pPr indent="0" marL="0">
              <a:buNone/>
            </a:pPr>
            <a:r>
              <a:rPr lang="en-US" sz="4400" b="1" dirty="0">
                <a:solidFill>
                  <a:srgbClr val="8FD0FF"/>
                </a:solidFill>
              </a:rPr>
              <a:t>敢被采纳</a:t>
            </a:r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的判断。</a:t>
            </a:r>
            <a:endParaRPr lang="en-US" sz="4400" dirty="0"/>
          </a:p>
        </p:txBody>
      </p:sp>
      <p:sp>
        <p:nvSpPr>
          <p:cNvPr id="16" name="结束语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FA"/>
                </a:solidFill>
              </a:rPr>
              <a:t>能判 · 能拒 · 能溯源——把最终决定权交还给工作人员。谢谢各位评委！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iuziTingLan">
  <a:themeElements>
    <a:clrScheme name="JiuziTingLan">
      <a:dk1>
        <a:srgbClr val="0F1B33"/>
      </a:dk1>
      <a:lt1>
        <a:srgbClr val="FFFFFF"/>
      </a:lt1>
      <a:dk2>
        <a:srgbClr val="0B3B8C"/>
      </a:dk2>
      <a:lt2>
        <a:srgbClr val="EEF3FB"/>
      </a:lt2>
      <a:accent1>
        <a:srgbClr val="0B4FA8"/>
      </a:accent1>
      <a:accent2>
        <a:srgbClr val="D9480F"/>
      </a:accent2>
      <a:accent3>
        <a:srgbClr val="1F8A5B"/>
      </a:accent3>
      <a:accent4>
        <a:srgbClr val="C62828"/>
      </a:accent4>
      <a:accent5>
        <a:srgbClr val="6C4FD6"/>
      </a:accent5>
      <a:accent6>
        <a:srgbClr val="5F6B7A"/>
      </a:accent6>
      <a:hlink>
        <a:srgbClr val="0B4FA8"/>
      </a:hlink>
      <a:folHlink>
        <a:srgbClr val="6C4FD6"/>
      </a:folHlink>
    </a:clrScheme>
    <a:fontScheme name="JiuziTingLan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鸠兹听澜 复赛答辩</dc:title>
  <dc:subject>PptxGenJS Presentation</dc:subject>
  <dc:creator>禾安团队</dc:creator>
  <cp:lastModifiedBy>禾安团队</cp:lastModifiedBy>
  <cp:revision>1</cp:revision>
  <dcterms:created xsi:type="dcterms:W3CDTF">2026-10-12T01:52:59Z</dcterms:created>
  <dcterms:modified xsi:type="dcterms:W3CDTF">2026-10-12T01:52:59Z</dcterms:modified>
</cp:coreProperties>
</file>